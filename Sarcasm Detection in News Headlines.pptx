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31"/>
  </p:notesMasterIdLst>
  <p:sldIdLst>
    <p:sldId id="256" r:id="rId5"/>
    <p:sldId id="280" r:id="rId6"/>
    <p:sldId id="281" r:id="rId7"/>
    <p:sldId id="282" r:id="rId8"/>
    <p:sldId id="283" r:id="rId9"/>
    <p:sldId id="284" r:id="rId10"/>
    <p:sldId id="285" r:id="rId11"/>
    <p:sldId id="286" r:id="rId12"/>
    <p:sldId id="287" r:id="rId13"/>
    <p:sldId id="288" r:id="rId14"/>
    <p:sldId id="289" r:id="rId15"/>
    <p:sldId id="291" r:id="rId16"/>
    <p:sldId id="290" r:id="rId17"/>
    <p:sldId id="292" r:id="rId18"/>
    <p:sldId id="294" r:id="rId19"/>
    <p:sldId id="295" r:id="rId20"/>
    <p:sldId id="296" r:id="rId21"/>
    <p:sldId id="297" r:id="rId22"/>
    <p:sldId id="299" r:id="rId23"/>
    <p:sldId id="300" r:id="rId24"/>
    <p:sldId id="302" r:id="rId25"/>
    <p:sldId id="303" r:id="rId26"/>
    <p:sldId id="301" r:id="rId27"/>
    <p:sldId id="304" r:id="rId28"/>
    <p:sldId id="305" r:id="rId29"/>
    <p:sldId id="30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6/26/2024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005E26E-BCB2-4FD5-8FD5-81A5EAE94C21}" type="datetime1">
              <a:rPr lang="en-US" smtClean="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85C470-CD19-455C-B830-6D252EAD7FE5}" type="datetime1">
              <a:rPr lang="en-US" smtClean="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85C43C-50D9-4F49-A136-0EFF292F93ED}" type="datetime1">
              <a:rPr lang="en-US" smtClean="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53B1A3-0AEF-4064-A724-D27D660C8653}" type="datetime1">
              <a:rPr lang="en-US" smtClean="0"/>
              <a:t>6/26/2024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D5D0F2-BF66-4A24-9384-A0129B196518}" type="datetime1">
              <a:rPr lang="en-US" smtClean="0"/>
              <a:t>6/26/2024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cap="none"/>
            </a:lvl1pPr>
          </a:lstStyle>
          <a:p>
            <a:r>
              <a:rPr lang="en-US"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1ECED-6ECE-4989-B917-9D4D7E6D3C76}" type="datetime1">
              <a:rPr lang="en-US" smtClean="0"/>
              <a:t>6/26/2024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B570E1-CB40-488E-8C6F-EF4211DFFCB0}" type="datetime1">
              <a:rPr lang="en-US" smtClean="0"/>
              <a:t>6/26/2024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CEB6AF-9F5C-43BE-879E-CB9514111250}" type="datetime1">
              <a:rPr lang="en-US" smtClean="0"/>
              <a:t>6/26/2024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C2E9B8-0487-42E4-B571-744A3D775783}" type="datetime1">
              <a:rPr lang="en-US" smtClean="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52E32D-1E84-43FD-8158-FFFE757EB0E8}" type="datetime1">
              <a:rPr lang="en-US" smtClean="0"/>
              <a:t>6/26/2024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E424C-FCA3-4EDD-B274-8E055D649B7D}" type="datetime1">
              <a:rPr lang="en-US" smtClean="0"/>
              <a:t>6/26/2024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datasets/rmisra/news-headlines-dataset-for-sarcasm-detection" TargetMode="Externa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b">
            <a:normAutofit fontScale="90000"/>
          </a:bodyPr>
          <a:lstStyle/>
          <a:p>
            <a:pPr algn="l"/>
            <a:r>
              <a:rPr lang="en-US" dirty="0">
                <a:solidFill>
                  <a:srgbClr val="FFFFFF"/>
                </a:solidFill>
                <a:cs typeface="Arial" panose="020B0604020202020204" pitchFamily="34" charset="0"/>
              </a:rPr>
              <a:t>Sarcasm Detection in News Headlines</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85000" lnSpcReduction="20000"/>
          </a:bodyPr>
          <a:lstStyle/>
          <a:p>
            <a:r>
              <a:rPr lang="en-US" dirty="0">
                <a:solidFill>
                  <a:srgbClr val="FFFFFF"/>
                </a:solidFill>
                <a:latin typeface="Arial" panose="020B0604020202020204" pitchFamily="34" charset="0"/>
                <a:cs typeface="Arial" panose="020B0604020202020204" pitchFamily="34" charset="0"/>
              </a:rPr>
              <a:t>By: Mostafa Nasrat</a:t>
            </a:r>
          </a:p>
          <a:p>
            <a:r>
              <a:rPr lang="en-US" dirty="0">
                <a:solidFill>
                  <a:srgbClr val="FFFFFF"/>
                </a:solidFill>
                <a:latin typeface="Arial" panose="020B0604020202020204" pitchFamily="34" charset="0"/>
                <a:cs typeface="Arial" panose="020B0604020202020204" pitchFamily="34" charset="0"/>
              </a:rPr>
              <a:t>Presented to: Dr. Alaa Hamdy</a:t>
            </a: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625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r>
              <a:rPr lang="en-US" dirty="0">
                <a:cs typeface="Arial" panose="020B0604020202020204" pitchFamily="34" charset="0"/>
              </a:rPr>
              <a:t>Dataset</a:t>
            </a:r>
          </a:p>
        </p:txBody>
      </p:sp>
      <p:sp>
        <p:nvSpPr>
          <p:cNvPr id="4" name="TextBox 3">
            <a:extLst>
              <a:ext uri="{FF2B5EF4-FFF2-40B4-BE49-F238E27FC236}">
                <a16:creationId xmlns:a16="http://schemas.microsoft.com/office/drawing/2014/main" id="{1FFBEFA0-CFD7-61BF-9CE2-FD745E77FB13}"/>
              </a:ext>
            </a:extLst>
          </p:cNvPr>
          <p:cNvSpPr txBox="1"/>
          <p:nvPr/>
        </p:nvSpPr>
        <p:spPr>
          <a:xfrm>
            <a:off x="1024128" y="2084832"/>
            <a:ext cx="9249932" cy="2400657"/>
          </a:xfrm>
          <a:prstGeom prst="rect">
            <a:avLst/>
          </a:prstGeom>
          <a:noFill/>
        </p:spPr>
        <p:txBody>
          <a:bodyPr wrap="square" rtlCol="0">
            <a:spAutoFit/>
          </a:bodyPr>
          <a:lstStyle/>
          <a:p>
            <a:pPr marL="457200" indent="-457200">
              <a:buFont typeface="Arial" panose="020B0604020202020204" pitchFamily="34" charset="0"/>
              <a:buChar char="•"/>
            </a:pPr>
            <a:r>
              <a:rPr lang="en-US" sz="2800" b="1" i="0" dirty="0">
                <a:effectLst/>
                <a:highlight>
                  <a:srgbClr val="FFFFFF"/>
                </a:highlight>
              </a:rPr>
              <a:t>News Headlines dataset for Sarcasm Detection</a:t>
            </a:r>
          </a:p>
          <a:p>
            <a:r>
              <a:rPr lang="en-US" sz="2800" b="1" dirty="0">
                <a:highlight>
                  <a:srgbClr val="FFFFFF"/>
                </a:highlight>
                <a:cs typeface="Arial" panose="020B0604020202020204" pitchFamily="34" charset="0"/>
              </a:rPr>
              <a:t>	</a:t>
            </a:r>
            <a:r>
              <a:rPr lang="en-US" sz="1400" b="1" dirty="0">
                <a:solidFill>
                  <a:schemeClr val="accent1"/>
                </a:solidFill>
                <a:highlight>
                  <a:srgbClr val="FFFFFF"/>
                </a:highlight>
                <a:cs typeface="Arial" panose="020B0604020202020204" pitchFamily="34" charset="0"/>
              </a:rPr>
              <a:t>(</a:t>
            </a:r>
            <a:r>
              <a:rPr lang="en-US" sz="1400" b="1" dirty="0">
                <a:solidFill>
                  <a:schemeClr val="accent1"/>
                </a:solidFill>
                <a:highlight>
                  <a:srgbClr val="FFFFFF"/>
                </a:highlight>
                <a:cs typeface="Arial" panose="020B0604020202020204" pitchFamily="34" charset="0"/>
                <a:hlinkClick r:id="rId2">
                  <a:extLst>
                    <a:ext uri="{A12FA001-AC4F-418D-AE19-62706E023703}">
                      <ahyp:hlinkClr xmlns:ahyp="http://schemas.microsoft.com/office/drawing/2018/hyperlinkcolor" val="tx"/>
                    </a:ext>
                  </a:extLst>
                </a:hlinkClick>
              </a:rPr>
              <a:t>https://www.kaggle.com/datasets/rmisra/news-headlines-dataset-for-sarcasm-detection</a:t>
            </a:r>
            <a:r>
              <a:rPr lang="en-US" sz="1400" b="1" dirty="0">
                <a:highlight>
                  <a:srgbClr val="FFFFFF"/>
                </a:highlight>
                <a:cs typeface="Arial" panose="020B0604020202020204" pitchFamily="34" charset="0"/>
              </a:rPr>
              <a:t>)</a:t>
            </a:r>
          </a:p>
          <a:p>
            <a:endParaRPr lang="en-US" sz="1400" b="1" dirty="0">
              <a:highlight>
                <a:srgbClr val="FFFFFF"/>
              </a:highlight>
              <a:cs typeface="Arial" panose="020B0604020202020204" pitchFamily="34" charset="0"/>
            </a:endParaRPr>
          </a:p>
          <a:p>
            <a:endParaRPr lang="en-US" sz="1400" b="1" dirty="0">
              <a:highlight>
                <a:srgbClr val="FFFFFF"/>
              </a:highlight>
              <a:cs typeface="Arial" panose="020B0604020202020204" pitchFamily="34" charset="0"/>
            </a:endParaRPr>
          </a:p>
          <a:p>
            <a:endParaRPr lang="en-US" sz="1400" b="1" dirty="0">
              <a:highlight>
                <a:srgbClr val="FFFFFF"/>
              </a:highlight>
              <a:cs typeface="Arial" panose="020B0604020202020204" pitchFamily="34" charset="0"/>
            </a:endParaRPr>
          </a:p>
          <a:p>
            <a:endParaRPr lang="en-US" sz="1400" b="1" dirty="0">
              <a:highlight>
                <a:srgbClr val="FFFFFF"/>
              </a:highlight>
              <a:cs typeface="Arial" panose="020B0604020202020204" pitchFamily="34" charset="0"/>
            </a:endParaRPr>
          </a:p>
          <a:p>
            <a:endParaRPr lang="en-US" sz="1400" dirty="0">
              <a:cs typeface="Arial" panose="020B0604020202020204" pitchFamily="34" charset="0"/>
            </a:endParaRPr>
          </a:p>
          <a:p>
            <a:pPr marL="285750" indent="-285750">
              <a:buFont typeface="Arial" panose="020B0604020202020204" pitchFamily="34" charset="0"/>
              <a:buChar char="•"/>
            </a:pPr>
            <a:r>
              <a:rPr lang="en-US" sz="2400" b="0" i="0" dirty="0">
                <a:solidFill>
                  <a:srgbClr val="3C4043"/>
                </a:solidFill>
                <a:effectLst/>
                <a:highlight>
                  <a:srgbClr val="FFFFFF"/>
                </a:highlight>
              </a:rPr>
              <a:t>The news headlines are collected from two news websites:</a:t>
            </a:r>
          </a:p>
        </p:txBody>
      </p:sp>
      <p:pic>
        <p:nvPicPr>
          <p:cNvPr id="6" name="Picture 5">
            <a:extLst>
              <a:ext uri="{FF2B5EF4-FFF2-40B4-BE49-F238E27FC236}">
                <a16:creationId xmlns:a16="http://schemas.microsoft.com/office/drawing/2014/main" id="{E41D3794-B4E6-6636-6C1A-70248F172975}"/>
              </a:ext>
            </a:extLst>
          </p:cNvPr>
          <p:cNvPicPr>
            <a:picLocks noChangeAspect="1"/>
          </p:cNvPicPr>
          <p:nvPr/>
        </p:nvPicPr>
        <p:blipFill>
          <a:blip r:embed="rId3"/>
          <a:stretch>
            <a:fillRect/>
          </a:stretch>
        </p:blipFill>
        <p:spPr>
          <a:xfrm>
            <a:off x="4502987" y="3092599"/>
            <a:ext cx="1843767" cy="712923"/>
          </a:xfrm>
          <a:prstGeom prst="rect">
            <a:avLst/>
          </a:prstGeom>
        </p:spPr>
      </p:pic>
      <p:pic>
        <p:nvPicPr>
          <p:cNvPr id="1038" name="Picture 14">
            <a:extLst>
              <a:ext uri="{FF2B5EF4-FFF2-40B4-BE49-F238E27FC236}">
                <a16:creationId xmlns:a16="http://schemas.microsoft.com/office/drawing/2014/main" id="{B96DF0DB-503F-120D-624F-C7411B7554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2505" y="4439973"/>
            <a:ext cx="3067049" cy="17039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A31A860-784F-FC96-CCFA-8F9AE99EAEE7}"/>
              </a:ext>
            </a:extLst>
          </p:cNvPr>
          <p:cNvSpPr txBox="1"/>
          <p:nvPr/>
        </p:nvSpPr>
        <p:spPr>
          <a:xfrm>
            <a:off x="7463791" y="5791809"/>
            <a:ext cx="1350050" cy="461665"/>
          </a:xfrm>
          <a:prstGeom prst="rect">
            <a:avLst/>
          </a:prstGeom>
          <a:noFill/>
        </p:spPr>
        <p:txBody>
          <a:bodyPr wrap="none" rtlCol="0">
            <a:spAutoFit/>
          </a:bodyPr>
          <a:lstStyle/>
          <a:p>
            <a:r>
              <a:rPr lang="en-US" sz="2400" b="0" i="1" strike="noStrike" dirty="0">
                <a:solidFill>
                  <a:schemeClr val="accent1"/>
                </a:solidFill>
                <a:effectLst/>
                <a:highlight>
                  <a:srgbClr val="FFFFFF"/>
                </a:highlight>
              </a:rPr>
              <a:t>Genuine</a:t>
            </a:r>
            <a:endParaRPr lang="en-US" sz="2400" dirty="0"/>
          </a:p>
        </p:txBody>
      </p:sp>
      <p:pic>
        <p:nvPicPr>
          <p:cNvPr id="1040" name="Picture 16" descr="Download The Onion Logo in SVG Vector or PNG File Format - Logo.wine">
            <a:extLst>
              <a:ext uri="{FF2B5EF4-FFF2-40B4-BE49-F238E27FC236}">
                <a16:creationId xmlns:a16="http://schemas.microsoft.com/office/drawing/2014/main" id="{8E9CC823-A35F-BD86-2E50-4E12FFFC79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7128" y="4170866"/>
            <a:ext cx="3346137" cy="223075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DAB91E2-1197-4236-0375-48E7A45D971E}"/>
              </a:ext>
            </a:extLst>
          </p:cNvPr>
          <p:cNvSpPr txBox="1"/>
          <p:nvPr/>
        </p:nvSpPr>
        <p:spPr>
          <a:xfrm>
            <a:off x="2078744" y="5791808"/>
            <a:ext cx="2642903" cy="461665"/>
          </a:xfrm>
          <a:prstGeom prst="rect">
            <a:avLst/>
          </a:prstGeom>
          <a:noFill/>
        </p:spPr>
        <p:txBody>
          <a:bodyPr wrap="square" rtlCol="0">
            <a:spAutoFit/>
          </a:bodyPr>
          <a:lstStyle/>
          <a:p>
            <a:pPr algn="ctr"/>
            <a:r>
              <a:rPr lang="en-US" sz="2400" i="1" dirty="0">
                <a:solidFill>
                  <a:schemeClr val="accent1"/>
                </a:solidFill>
                <a:highlight>
                  <a:srgbClr val="FFFFFF"/>
                </a:highlight>
              </a:rPr>
              <a:t>Sarcastic</a:t>
            </a:r>
            <a:endParaRPr lang="en-US" sz="2400" dirty="0"/>
          </a:p>
        </p:txBody>
      </p:sp>
    </p:spTree>
    <p:extLst>
      <p:ext uri="{BB962C8B-B14F-4D97-AF65-F5344CB8AC3E}">
        <p14:creationId xmlns:p14="http://schemas.microsoft.com/office/powerpoint/2010/main" val="1735083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r>
              <a:rPr lang="en-US" dirty="0">
                <a:cs typeface="Arial" panose="020B0604020202020204" pitchFamily="34" charset="0"/>
              </a:rPr>
              <a:t>Dataset</a:t>
            </a:r>
          </a:p>
        </p:txBody>
      </p:sp>
      <p:sp>
        <p:nvSpPr>
          <p:cNvPr id="4" name="TextBox 3">
            <a:extLst>
              <a:ext uri="{FF2B5EF4-FFF2-40B4-BE49-F238E27FC236}">
                <a16:creationId xmlns:a16="http://schemas.microsoft.com/office/drawing/2014/main" id="{1FFBEFA0-CFD7-61BF-9CE2-FD745E77FB13}"/>
              </a:ext>
            </a:extLst>
          </p:cNvPr>
          <p:cNvSpPr txBox="1"/>
          <p:nvPr/>
        </p:nvSpPr>
        <p:spPr>
          <a:xfrm>
            <a:off x="1024128" y="1808787"/>
            <a:ext cx="9249932" cy="4524315"/>
          </a:xfrm>
          <a:prstGeom prst="rect">
            <a:avLst/>
          </a:prstGeom>
          <a:noFill/>
        </p:spPr>
        <p:txBody>
          <a:bodyPr wrap="square" rtlCol="0">
            <a:spAutoFit/>
          </a:bodyPr>
          <a:lstStyle/>
          <a:p>
            <a:pPr marL="285750" indent="-285750">
              <a:buFont typeface="Arial" panose="020B0604020202020204" pitchFamily="34" charset="0"/>
              <a:buChar char="•"/>
            </a:pPr>
            <a:r>
              <a:rPr lang="en-US" sz="2400" b="0" i="0" dirty="0">
                <a:solidFill>
                  <a:srgbClr val="3C4043"/>
                </a:solidFill>
                <a:effectLst/>
                <a:highlight>
                  <a:srgbClr val="FFFFFF"/>
                </a:highlight>
              </a:rPr>
              <a:t>The dataset consists of 2 JSON files:</a:t>
            </a:r>
          </a:p>
          <a:p>
            <a:pPr marL="285750" indent="-285750">
              <a:buFont typeface="Arial" panose="020B0604020202020204" pitchFamily="34" charset="0"/>
              <a:buChar char="•"/>
            </a:pPr>
            <a:endParaRPr lang="en-US" sz="2400" dirty="0">
              <a:solidFill>
                <a:srgbClr val="3C4043"/>
              </a:solidFill>
              <a:highlight>
                <a:srgbClr val="FFFFFF"/>
              </a:highlight>
            </a:endParaRPr>
          </a:p>
          <a:p>
            <a:pPr marL="285750" indent="-285750">
              <a:buFont typeface="Arial" panose="020B0604020202020204" pitchFamily="34" charset="0"/>
              <a:buChar char="•"/>
            </a:pPr>
            <a:endParaRPr lang="en-US" sz="2400" b="0" i="0" dirty="0">
              <a:solidFill>
                <a:srgbClr val="3C4043"/>
              </a:solidFill>
              <a:effectLst/>
              <a:highlight>
                <a:srgbClr val="FFFFFF"/>
              </a:highlight>
            </a:endParaRPr>
          </a:p>
          <a:p>
            <a:pPr marL="285750" indent="-285750">
              <a:buFont typeface="Arial" panose="020B0604020202020204" pitchFamily="34" charset="0"/>
              <a:buChar char="•"/>
            </a:pPr>
            <a:endParaRPr lang="en-US" sz="2400" dirty="0">
              <a:solidFill>
                <a:srgbClr val="3C4043"/>
              </a:solidFill>
              <a:highlight>
                <a:srgbClr val="FFFFFF"/>
              </a:highlight>
            </a:endParaRPr>
          </a:p>
          <a:p>
            <a:pPr marL="285750" indent="-285750">
              <a:buFont typeface="Arial" panose="020B0604020202020204" pitchFamily="34" charset="0"/>
              <a:buChar char="•"/>
            </a:pPr>
            <a:endParaRPr lang="en-US" sz="2400" b="0" i="0" dirty="0">
              <a:solidFill>
                <a:srgbClr val="3C4043"/>
              </a:solidFill>
              <a:effectLst/>
              <a:highlight>
                <a:srgbClr val="FFFFFF"/>
              </a:highlight>
            </a:endParaRPr>
          </a:p>
          <a:p>
            <a:pPr marL="285750" indent="-285750">
              <a:buFont typeface="Arial" panose="020B0604020202020204" pitchFamily="34" charset="0"/>
              <a:buChar char="•"/>
            </a:pPr>
            <a:endParaRPr lang="en-US" sz="2400" dirty="0">
              <a:solidFill>
                <a:srgbClr val="3C4043"/>
              </a:solidFill>
              <a:highlight>
                <a:srgbClr val="FFFFFF"/>
              </a:highlight>
            </a:endParaRPr>
          </a:p>
          <a:p>
            <a:endParaRPr lang="en-US" sz="2400" dirty="0">
              <a:solidFill>
                <a:srgbClr val="3C4043"/>
              </a:solidFill>
              <a:highlight>
                <a:srgbClr val="FFFFFF"/>
              </a:highlight>
            </a:endParaRPr>
          </a:p>
          <a:p>
            <a:endParaRPr lang="en-US" sz="2400" dirty="0">
              <a:solidFill>
                <a:srgbClr val="3C4043"/>
              </a:solidFill>
              <a:highlight>
                <a:srgbClr val="FFFFFF"/>
              </a:highlight>
            </a:endParaRPr>
          </a:p>
          <a:p>
            <a:pPr marL="285750" indent="-285750">
              <a:buFont typeface="Arial" panose="020B0604020202020204" pitchFamily="34" charset="0"/>
              <a:buChar char="•"/>
            </a:pPr>
            <a:r>
              <a:rPr lang="en-US" sz="2400" dirty="0">
                <a:solidFill>
                  <a:srgbClr val="3C4043"/>
                </a:solidFill>
                <a:highlight>
                  <a:srgbClr val="FFFFFF"/>
                </a:highlight>
              </a:rPr>
              <a:t>Each record consists of 3 attributes:</a:t>
            </a:r>
          </a:p>
          <a:p>
            <a:pPr marL="914400" lvl="1" indent="-457200">
              <a:buFont typeface="Courier New" panose="02070309020205020404" pitchFamily="49" charset="0"/>
              <a:buChar char="o"/>
            </a:pPr>
            <a:r>
              <a:rPr lang="en-US" sz="2400" b="1" dirty="0" err="1">
                <a:solidFill>
                  <a:srgbClr val="3C4043"/>
                </a:solidFill>
                <a:highlight>
                  <a:srgbClr val="FFFFFF"/>
                </a:highlight>
              </a:rPr>
              <a:t>is_sarcastic</a:t>
            </a:r>
            <a:endParaRPr lang="en-US" sz="2400" b="1" dirty="0">
              <a:solidFill>
                <a:srgbClr val="3C4043"/>
              </a:solidFill>
              <a:highlight>
                <a:srgbClr val="FFFFFF"/>
              </a:highlight>
            </a:endParaRPr>
          </a:p>
          <a:p>
            <a:pPr marL="914400" lvl="1" indent="-457200">
              <a:buFont typeface="Courier New" panose="02070309020205020404" pitchFamily="49" charset="0"/>
              <a:buChar char="o"/>
            </a:pPr>
            <a:r>
              <a:rPr lang="en-US" sz="2400" b="1" dirty="0">
                <a:solidFill>
                  <a:srgbClr val="3C4043"/>
                </a:solidFill>
                <a:highlight>
                  <a:srgbClr val="FFFFFF"/>
                </a:highlight>
              </a:rPr>
              <a:t>headline</a:t>
            </a:r>
          </a:p>
          <a:p>
            <a:pPr marL="914400" lvl="1" indent="-457200">
              <a:buFont typeface="Courier New" panose="02070309020205020404" pitchFamily="49" charset="0"/>
              <a:buChar char="o"/>
            </a:pPr>
            <a:r>
              <a:rPr lang="en-US" sz="2400" b="1" dirty="0" err="1">
                <a:solidFill>
                  <a:srgbClr val="3C4043"/>
                </a:solidFill>
                <a:highlight>
                  <a:srgbClr val="FFFFFF"/>
                </a:highlight>
              </a:rPr>
              <a:t>article_link</a:t>
            </a:r>
            <a:endParaRPr lang="en-US" sz="2400" b="1" i="0" dirty="0">
              <a:solidFill>
                <a:srgbClr val="3C4043"/>
              </a:solidFill>
              <a:effectLst/>
              <a:highlight>
                <a:srgbClr val="FFFFFF"/>
              </a:highlight>
            </a:endParaRPr>
          </a:p>
        </p:txBody>
      </p:sp>
      <p:graphicFrame>
        <p:nvGraphicFramePr>
          <p:cNvPr id="3" name="Table 2">
            <a:extLst>
              <a:ext uri="{FF2B5EF4-FFF2-40B4-BE49-F238E27FC236}">
                <a16:creationId xmlns:a16="http://schemas.microsoft.com/office/drawing/2014/main" id="{72E950F6-E34E-211E-095C-AC7350B35283}"/>
              </a:ext>
            </a:extLst>
          </p:cNvPr>
          <p:cNvGraphicFramePr>
            <a:graphicFrameLocks noGrp="1"/>
          </p:cNvGraphicFramePr>
          <p:nvPr>
            <p:extLst>
              <p:ext uri="{D42A27DB-BD31-4B8C-83A1-F6EECF244321}">
                <p14:modId xmlns:p14="http://schemas.microsoft.com/office/powerpoint/2010/main" val="3047042248"/>
              </p:ext>
            </p:extLst>
          </p:nvPr>
        </p:nvGraphicFramePr>
        <p:xfrm>
          <a:off x="1785533" y="2379795"/>
          <a:ext cx="8203857" cy="2098410"/>
        </p:xfrm>
        <a:graphic>
          <a:graphicData uri="http://schemas.openxmlformats.org/drawingml/2006/table">
            <a:tbl>
              <a:tblPr firstRow="1" bandRow="1">
                <a:tableStyleId>{5C22544A-7EE6-4342-B048-85BDC9FD1C3A}</a:tableStyleId>
              </a:tblPr>
              <a:tblGrid>
                <a:gridCol w="2734619">
                  <a:extLst>
                    <a:ext uri="{9D8B030D-6E8A-4147-A177-3AD203B41FA5}">
                      <a16:colId xmlns:a16="http://schemas.microsoft.com/office/drawing/2014/main" val="224265516"/>
                    </a:ext>
                  </a:extLst>
                </a:gridCol>
                <a:gridCol w="2734619">
                  <a:extLst>
                    <a:ext uri="{9D8B030D-6E8A-4147-A177-3AD203B41FA5}">
                      <a16:colId xmlns:a16="http://schemas.microsoft.com/office/drawing/2014/main" val="2167057471"/>
                    </a:ext>
                  </a:extLst>
                </a:gridCol>
                <a:gridCol w="2734619">
                  <a:extLst>
                    <a:ext uri="{9D8B030D-6E8A-4147-A177-3AD203B41FA5}">
                      <a16:colId xmlns:a16="http://schemas.microsoft.com/office/drawing/2014/main" val="3676630972"/>
                    </a:ext>
                  </a:extLst>
                </a:gridCol>
              </a:tblGrid>
              <a:tr h="699470">
                <a:tc>
                  <a:txBody>
                    <a:bodyPr/>
                    <a:lstStyle/>
                    <a:p>
                      <a:pPr algn="ctr"/>
                      <a:r>
                        <a:rPr lang="en-US" sz="1800" b="1" dirty="0" err="1"/>
                        <a:t>Sarcasm_Headlines_Dataset.json</a:t>
                      </a:r>
                      <a:endParaRPr lang="en-US" sz="1800" b="1" dirty="0"/>
                    </a:p>
                  </a:txBody>
                  <a:tcPr anchor="ctr"/>
                </a:tc>
                <a:tc>
                  <a:txBody>
                    <a:bodyPr/>
                    <a:lstStyle/>
                    <a:p>
                      <a:pPr algn="ctr"/>
                      <a:r>
                        <a:rPr lang="en-US" sz="1800" b="1" dirty="0"/>
                        <a:t>Sarcasm_Headlines_Dataset_v2.json</a:t>
                      </a:r>
                    </a:p>
                  </a:txBody>
                  <a:tcPr anchor="ctr"/>
                </a:tc>
                <a:tc>
                  <a:txBody>
                    <a:bodyPr/>
                    <a:lstStyle/>
                    <a:p>
                      <a:pPr algn="ctr"/>
                      <a:r>
                        <a:rPr lang="en-US" sz="1800" dirty="0"/>
                        <a:t>Total</a:t>
                      </a:r>
                    </a:p>
                  </a:txBody>
                  <a:tcPr anchor="ctr"/>
                </a:tc>
                <a:extLst>
                  <a:ext uri="{0D108BD9-81ED-4DB2-BD59-A6C34878D82A}">
                    <a16:rowId xmlns:a16="http://schemas.microsoft.com/office/drawing/2014/main" val="1454288219"/>
                  </a:ext>
                </a:extLst>
              </a:tr>
              <a:tr h="699470">
                <a:tc>
                  <a:txBody>
                    <a:bodyPr/>
                    <a:lstStyle/>
                    <a:p>
                      <a:pPr algn="ctr"/>
                      <a:r>
                        <a:rPr lang="en-US" sz="1800" b="1" dirty="0"/>
                        <a:t>5.62 MB</a:t>
                      </a:r>
                    </a:p>
                  </a:txBody>
                  <a:tcPr anchor="ctr"/>
                </a:tc>
                <a:tc>
                  <a:txBody>
                    <a:bodyPr/>
                    <a:lstStyle/>
                    <a:p>
                      <a:pPr algn="ctr"/>
                      <a:r>
                        <a:rPr lang="en-US" sz="1800" b="1" dirty="0"/>
                        <a:t>6.06 MB</a:t>
                      </a:r>
                    </a:p>
                  </a:txBody>
                  <a:tcPr anchor="ctr"/>
                </a:tc>
                <a:tc>
                  <a:txBody>
                    <a:bodyPr/>
                    <a:lstStyle/>
                    <a:p>
                      <a:pPr algn="ctr"/>
                      <a:r>
                        <a:rPr lang="en-US" sz="1800" b="1" dirty="0"/>
                        <a:t>11.68 MB</a:t>
                      </a:r>
                    </a:p>
                  </a:txBody>
                  <a:tcPr anchor="ctr"/>
                </a:tc>
                <a:extLst>
                  <a:ext uri="{0D108BD9-81ED-4DB2-BD59-A6C34878D82A}">
                    <a16:rowId xmlns:a16="http://schemas.microsoft.com/office/drawing/2014/main" val="778467114"/>
                  </a:ext>
                </a:extLst>
              </a:tr>
              <a:tr h="699470">
                <a:tc>
                  <a:txBody>
                    <a:bodyPr/>
                    <a:lstStyle/>
                    <a:p>
                      <a:pPr algn="ctr"/>
                      <a:r>
                        <a:rPr lang="en-US" sz="1800" b="1" i="0" kern="1200" dirty="0">
                          <a:solidFill>
                            <a:schemeClr val="dk1"/>
                          </a:solidFill>
                          <a:effectLst/>
                          <a:latin typeface="+mn-lt"/>
                          <a:ea typeface="+mn-ea"/>
                          <a:cs typeface="+mn-cs"/>
                        </a:rPr>
                        <a:t>26,708 Record</a:t>
                      </a:r>
                      <a:endParaRPr lang="en-US" sz="1800" b="1" dirty="0"/>
                    </a:p>
                  </a:txBody>
                  <a:tcPr anchor="ctr"/>
                </a:tc>
                <a:tc>
                  <a:txBody>
                    <a:bodyPr/>
                    <a:lstStyle/>
                    <a:p>
                      <a:pPr algn="ctr"/>
                      <a:r>
                        <a:rPr lang="en-US" sz="1800" b="1" i="0" kern="1200" dirty="0">
                          <a:solidFill>
                            <a:schemeClr val="dk1"/>
                          </a:solidFill>
                          <a:effectLst/>
                          <a:latin typeface="+mn-lt"/>
                          <a:ea typeface="+mn-ea"/>
                          <a:cs typeface="+mn-cs"/>
                        </a:rPr>
                        <a:t>28,618 Record</a:t>
                      </a:r>
                      <a:endParaRPr lang="en-US" sz="1800" b="1" dirty="0"/>
                    </a:p>
                  </a:txBody>
                  <a:tcPr anchor="ctr"/>
                </a:tc>
                <a:tc>
                  <a:txBody>
                    <a:bodyPr/>
                    <a:lstStyle/>
                    <a:p>
                      <a:pPr algn="ctr"/>
                      <a:r>
                        <a:rPr lang="en-US" sz="1800" b="1" dirty="0"/>
                        <a:t>55,326 Record</a:t>
                      </a:r>
                    </a:p>
                  </a:txBody>
                  <a:tcPr anchor="ctr"/>
                </a:tc>
                <a:extLst>
                  <a:ext uri="{0D108BD9-81ED-4DB2-BD59-A6C34878D82A}">
                    <a16:rowId xmlns:a16="http://schemas.microsoft.com/office/drawing/2014/main" val="3955664629"/>
                  </a:ext>
                </a:extLst>
              </a:tr>
            </a:tbl>
          </a:graphicData>
        </a:graphic>
      </p:graphicFrame>
    </p:spTree>
    <p:extLst>
      <p:ext uri="{BB962C8B-B14F-4D97-AF65-F5344CB8AC3E}">
        <p14:creationId xmlns:p14="http://schemas.microsoft.com/office/powerpoint/2010/main" val="374653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r>
              <a:rPr lang="en-US" dirty="0">
                <a:cs typeface="Arial" panose="020B0604020202020204" pitchFamily="34" charset="0"/>
              </a:rPr>
              <a:t>Dataset Loading</a:t>
            </a:r>
          </a:p>
        </p:txBody>
      </p:sp>
      <p:pic>
        <p:nvPicPr>
          <p:cNvPr id="5" name="Picture 4">
            <a:extLst>
              <a:ext uri="{FF2B5EF4-FFF2-40B4-BE49-F238E27FC236}">
                <a16:creationId xmlns:a16="http://schemas.microsoft.com/office/drawing/2014/main" id="{6A0BA4BD-487D-2490-92F6-A8B94E13ED6F}"/>
              </a:ext>
            </a:extLst>
          </p:cNvPr>
          <p:cNvPicPr>
            <a:picLocks noChangeAspect="1"/>
          </p:cNvPicPr>
          <p:nvPr/>
        </p:nvPicPr>
        <p:blipFill>
          <a:blip r:embed="rId2"/>
          <a:stretch>
            <a:fillRect/>
          </a:stretch>
        </p:blipFill>
        <p:spPr>
          <a:xfrm>
            <a:off x="1024128" y="2084832"/>
            <a:ext cx="6392167" cy="495369"/>
          </a:xfrm>
          <a:prstGeom prst="rect">
            <a:avLst/>
          </a:prstGeom>
        </p:spPr>
      </p:pic>
      <p:pic>
        <p:nvPicPr>
          <p:cNvPr id="10" name="Picture 9">
            <a:extLst>
              <a:ext uri="{FF2B5EF4-FFF2-40B4-BE49-F238E27FC236}">
                <a16:creationId xmlns:a16="http://schemas.microsoft.com/office/drawing/2014/main" id="{6B1B3E23-D72D-F02B-1618-BC67832182A2}"/>
              </a:ext>
            </a:extLst>
          </p:cNvPr>
          <p:cNvPicPr>
            <a:picLocks noChangeAspect="1"/>
          </p:cNvPicPr>
          <p:nvPr/>
        </p:nvPicPr>
        <p:blipFill>
          <a:blip r:embed="rId3"/>
          <a:stretch>
            <a:fillRect/>
          </a:stretch>
        </p:blipFill>
        <p:spPr>
          <a:xfrm>
            <a:off x="1024128" y="2854016"/>
            <a:ext cx="7423398" cy="3418768"/>
          </a:xfrm>
          <a:prstGeom prst="rect">
            <a:avLst/>
          </a:prstGeom>
        </p:spPr>
      </p:pic>
      <p:sp>
        <p:nvSpPr>
          <p:cNvPr id="11" name="TextBox 10">
            <a:extLst>
              <a:ext uri="{FF2B5EF4-FFF2-40B4-BE49-F238E27FC236}">
                <a16:creationId xmlns:a16="http://schemas.microsoft.com/office/drawing/2014/main" id="{20622A7D-D4CF-C060-EA8A-98FCFB6476D3}"/>
              </a:ext>
            </a:extLst>
          </p:cNvPr>
          <p:cNvSpPr txBox="1"/>
          <p:nvPr/>
        </p:nvSpPr>
        <p:spPr>
          <a:xfrm>
            <a:off x="8777745" y="3937129"/>
            <a:ext cx="2642903" cy="584775"/>
          </a:xfrm>
          <a:prstGeom prst="rect">
            <a:avLst/>
          </a:prstGeom>
          <a:noFill/>
        </p:spPr>
        <p:txBody>
          <a:bodyPr wrap="square" rtlCol="0">
            <a:spAutoFit/>
          </a:bodyPr>
          <a:lstStyle/>
          <a:p>
            <a:pPr algn="ctr"/>
            <a:r>
              <a:rPr lang="en-US" sz="3200" i="1" dirty="0">
                <a:solidFill>
                  <a:schemeClr val="accent1"/>
                </a:solidFill>
                <a:highlight>
                  <a:srgbClr val="FFFFFF"/>
                </a:highlight>
              </a:rPr>
              <a:t>data1</a:t>
            </a:r>
            <a:endParaRPr lang="en-US" sz="3200" dirty="0"/>
          </a:p>
        </p:txBody>
      </p:sp>
    </p:spTree>
    <p:extLst>
      <p:ext uri="{BB962C8B-B14F-4D97-AF65-F5344CB8AC3E}">
        <p14:creationId xmlns:p14="http://schemas.microsoft.com/office/powerpoint/2010/main" val="219477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r>
              <a:rPr lang="en-US" dirty="0">
                <a:cs typeface="Arial" panose="020B0604020202020204" pitchFamily="34" charset="0"/>
              </a:rPr>
              <a:t>Dataset Loading</a:t>
            </a:r>
          </a:p>
        </p:txBody>
      </p:sp>
      <p:pic>
        <p:nvPicPr>
          <p:cNvPr id="5" name="Picture 4">
            <a:extLst>
              <a:ext uri="{FF2B5EF4-FFF2-40B4-BE49-F238E27FC236}">
                <a16:creationId xmlns:a16="http://schemas.microsoft.com/office/drawing/2014/main" id="{6A0BA4BD-487D-2490-92F6-A8B94E13ED6F}"/>
              </a:ext>
            </a:extLst>
          </p:cNvPr>
          <p:cNvPicPr>
            <a:picLocks noChangeAspect="1"/>
          </p:cNvPicPr>
          <p:nvPr/>
        </p:nvPicPr>
        <p:blipFill>
          <a:blip r:embed="rId2"/>
          <a:stretch>
            <a:fillRect/>
          </a:stretch>
        </p:blipFill>
        <p:spPr>
          <a:xfrm>
            <a:off x="1024128" y="2084832"/>
            <a:ext cx="6392167" cy="495369"/>
          </a:xfrm>
          <a:prstGeom prst="rect">
            <a:avLst/>
          </a:prstGeom>
        </p:spPr>
      </p:pic>
      <p:sp>
        <p:nvSpPr>
          <p:cNvPr id="11" name="TextBox 10">
            <a:extLst>
              <a:ext uri="{FF2B5EF4-FFF2-40B4-BE49-F238E27FC236}">
                <a16:creationId xmlns:a16="http://schemas.microsoft.com/office/drawing/2014/main" id="{20622A7D-D4CF-C060-EA8A-98FCFB6476D3}"/>
              </a:ext>
            </a:extLst>
          </p:cNvPr>
          <p:cNvSpPr txBox="1"/>
          <p:nvPr/>
        </p:nvSpPr>
        <p:spPr>
          <a:xfrm>
            <a:off x="8777745" y="3937129"/>
            <a:ext cx="2642903" cy="584775"/>
          </a:xfrm>
          <a:prstGeom prst="rect">
            <a:avLst/>
          </a:prstGeom>
          <a:noFill/>
        </p:spPr>
        <p:txBody>
          <a:bodyPr wrap="square" rtlCol="0">
            <a:spAutoFit/>
          </a:bodyPr>
          <a:lstStyle/>
          <a:p>
            <a:pPr algn="ctr"/>
            <a:r>
              <a:rPr lang="en-US" sz="3200" i="1" dirty="0">
                <a:solidFill>
                  <a:schemeClr val="accent1"/>
                </a:solidFill>
                <a:highlight>
                  <a:srgbClr val="FFFFFF"/>
                </a:highlight>
              </a:rPr>
              <a:t>data2</a:t>
            </a:r>
            <a:endParaRPr lang="en-US" sz="3200" dirty="0"/>
          </a:p>
        </p:txBody>
      </p:sp>
      <p:pic>
        <p:nvPicPr>
          <p:cNvPr id="4" name="Picture 3">
            <a:extLst>
              <a:ext uri="{FF2B5EF4-FFF2-40B4-BE49-F238E27FC236}">
                <a16:creationId xmlns:a16="http://schemas.microsoft.com/office/drawing/2014/main" id="{132C44FD-EE23-4B1C-290A-38B7138992D5}"/>
              </a:ext>
            </a:extLst>
          </p:cNvPr>
          <p:cNvPicPr>
            <a:picLocks noChangeAspect="1"/>
          </p:cNvPicPr>
          <p:nvPr/>
        </p:nvPicPr>
        <p:blipFill>
          <a:blip r:embed="rId3"/>
          <a:stretch>
            <a:fillRect/>
          </a:stretch>
        </p:blipFill>
        <p:spPr>
          <a:xfrm>
            <a:off x="1024128" y="2854016"/>
            <a:ext cx="7423398" cy="3349228"/>
          </a:xfrm>
          <a:prstGeom prst="rect">
            <a:avLst/>
          </a:prstGeom>
        </p:spPr>
      </p:pic>
    </p:spTree>
    <p:extLst>
      <p:ext uri="{BB962C8B-B14F-4D97-AF65-F5344CB8AC3E}">
        <p14:creationId xmlns:p14="http://schemas.microsoft.com/office/powerpoint/2010/main" val="2369718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r>
              <a:rPr lang="en-US" dirty="0">
                <a:cs typeface="Arial" panose="020B0604020202020204" pitchFamily="34" charset="0"/>
              </a:rPr>
              <a:t>Dataset Concatenation</a:t>
            </a:r>
          </a:p>
        </p:txBody>
      </p:sp>
      <p:sp>
        <p:nvSpPr>
          <p:cNvPr id="11" name="TextBox 10">
            <a:extLst>
              <a:ext uri="{FF2B5EF4-FFF2-40B4-BE49-F238E27FC236}">
                <a16:creationId xmlns:a16="http://schemas.microsoft.com/office/drawing/2014/main" id="{20622A7D-D4CF-C060-EA8A-98FCFB6476D3}"/>
              </a:ext>
            </a:extLst>
          </p:cNvPr>
          <p:cNvSpPr txBox="1"/>
          <p:nvPr/>
        </p:nvSpPr>
        <p:spPr>
          <a:xfrm>
            <a:off x="8777745" y="3937129"/>
            <a:ext cx="2642903" cy="584775"/>
          </a:xfrm>
          <a:prstGeom prst="rect">
            <a:avLst/>
          </a:prstGeom>
          <a:noFill/>
        </p:spPr>
        <p:txBody>
          <a:bodyPr wrap="square" rtlCol="0">
            <a:spAutoFit/>
          </a:bodyPr>
          <a:lstStyle/>
          <a:p>
            <a:pPr algn="ctr"/>
            <a:r>
              <a:rPr lang="en-US" sz="3200" i="1" dirty="0">
                <a:solidFill>
                  <a:schemeClr val="accent1"/>
                </a:solidFill>
                <a:highlight>
                  <a:srgbClr val="FFFFFF"/>
                </a:highlight>
              </a:rPr>
              <a:t>data</a:t>
            </a:r>
            <a:endParaRPr lang="en-US" sz="3200" dirty="0"/>
          </a:p>
        </p:txBody>
      </p:sp>
      <p:pic>
        <p:nvPicPr>
          <p:cNvPr id="6" name="Picture 5">
            <a:extLst>
              <a:ext uri="{FF2B5EF4-FFF2-40B4-BE49-F238E27FC236}">
                <a16:creationId xmlns:a16="http://schemas.microsoft.com/office/drawing/2014/main" id="{E04DC299-E5B5-D9AF-9371-F7ED3FD25897}"/>
              </a:ext>
            </a:extLst>
          </p:cNvPr>
          <p:cNvPicPr>
            <a:picLocks noChangeAspect="1"/>
          </p:cNvPicPr>
          <p:nvPr/>
        </p:nvPicPr>
        <p:blipFill>
          <a:blip r:embed="rId2"/>
          <a:stretch>
            <a:fillRect/>
          </a:stretch>
        </p:blipFill>
        <p:spPr>
          <a:xfrm>
            <a:off x="1024128" y="2101436"/>
            <a:ext cx="4115374" cy="514422"/>
          </a:xfrm>
          <a:prstGeom prst="rect">
            <a:avLst/>
          </a:prstGeom>
        </p:spPr>
      </p:pic>
      <p:pic>
        <p:nvPicPr>
          <p:cNvPr id="9" name="Picture 8">
            <a:extLst>
              <a:ext uri="{FF2B5EF4-FFF2-40B4-BE49-F238E27FC236}">
                <a16:creationId xmlns:a16="http://schemas.microsoft.com/office/drawing/2014/main" id="{E4D05F59-C321-7607-CB59-882F3B48C453}"/>
              </a:ext>
            </a:extLst>
          </p:cNvPr>
          <p:cNvPicPr>
            <a:picLocks noChangeAspect="1"/>
          </p:cNvPicPr>
          <p:nvPr/>
        </p:nvPicPr>
        <p:blipFill>
          <a:blip r:embed="rId3"/>
          <a:stretch>
            <a:fillRect/>
          </a:stretch>
        </p:blipFill>
        <p:spPr>
          <a:xfrm>
            <a:off x="1024128" y="2854016"/>
            <a:ext cx="7570882" cy="3349228"/>
          </a:xfrm>
          <a:prstGeom prst="rect">
            <a:avLst/>
          </a:prstGeom>
        </p:spPr>
      </p:pic>
    </p:spTree>
    <p:extLst>
      <p:ext uri="{BB962C8B-B14F-4D97-AF65-F5344CB8AC3E}">
        <p14:creationId xmlns:p14="http://schemas.microsoft.com/office/powerpoint/2010/main" val="283091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r>
              <a:rPr lang="en-US" dirty="0">
                <a:cs typeface="Arial" panose="020B0604020202020204" pitchFamily="34" charset="0"/>
              </a:rPr>
              <a:t>Drop </a:t>
            </a:r>
            <a:r>
              <a:rPr lang="en-US" dirty="0" err="1">
                <a:cs typeface="Arial" panose="020B0604020202020204" pitchFamily="34" charset="0"/>
              </a:rPr>
              <a:t>article_link</a:t>
            </a:r>
            <a:r>
              <a:rPr lang="en-US" dirty="0">
                <a:cs typeface="Arial" panose="020B0604020202020204" pitchFamily="34" charset="0"/>
              </a:rPr>
              <a:t> </a:t>
            </a:r>
            <a:r>
              <a:rPr lang="en-US" dirty="0" err="1">
                <a:cs typeface="Arial" panose="020B0604020202020204" pitchFamily="34" charset="0"/>
              </a:rPr>
              <a:t>cloumn</a:t>
            </a:r>
            <a:endParaRPr lang="en-US" dirty="0">
              <a:cs typeface="Arial" panose="020B0604020202020204" pitchFamily="34" charset="0"/>
            </a:endParaRPr>
          </a:p>
        </p:txBody>
      </p:sp>
      <p:sp>
        <p:nvSpPr>
          <p:cNvPr id="11" name="TextBox 10">
            <a:extLst>
              <a:ext uri="{FF2B5EF4-FFF2-40B4-BE49-F238E27FC236}">
                <a16:creationId xmlns:a16="http://schemas.microsoft.com/office/drawing/2014/main" id="{20622A7D-D4CF-C060-EA8A-98FCFB6476D3}"/>
              </a:ext>
            </a:extLst>
          </p:cNvPr>
          <p:cNvSpPr txBox="1"/>
          <p:nvPr/>
        </p:nvSpPr>
        <p:spPr>
          <a:xfrm>
            <a:off x="8777745" y="3937129"/>
            <a:ext cx="2642903" cy="584775"/>
          </a:xfrm>
          <a:prstGeom prst="rect">
            <a:avLst/>
          </a:prstGeom>
          <a:noFill/>
        </p:spPr>
        <p:txBody>
          <a:bodyPr wrap="square" rtlCol="0">
            <a:spAutoFit/>
          </a:bodyPr>
          <a:lstStyle/>
          <a:p>
            <a:pPr algn="ctr"/>
            <a:r>
              <a:rPr lang="en-US" sz="3200" i="1" dirty="0">
                <a:solidFill>
                  <a:schemeClr val="accent1"/>
                </a:solidFill>
                <a:highlight>
                  <a:srgbClr val="FFFFFF"/>
                </a:highlight>
              </a:rPr>
              <a:t>data</a:t>
            </a:r>
            <a:endParaRPr lang="en-US" sz="3200" dirty="0"/>
          </a:p>
        </p:txBody>
      </p:sp>
      <p:pic>
        <p:nvPicPr>
          <p:cNvPr id="12" name="Picture 11">
            <a:extLst>
              <a:ext uri="{FF2B5EF4-FFF2-40B4-BE49-F238E27FC236}">
                <a16:creationId xmlns:a16="http://schemas.microsoft.com/office/drawing/2014/main" id="{3C1FC034-03B4-D962-6321-DEE1BA21EFE1}"/>
              </a:ext>
            </a:extLst>
          </p:cNvPr>
          <p:cNvPicPr>
            <a:picLocks noChangeAspect="1"/>
          </p:cNvPicPr>
          <p:nvPr/>
        </p:nvPicPr>
        <p:blipFill>
          <a:blip r:embed="rId2"/>
          <a:stretch>
            <a:fillRect/>
          </a:stretch>
        </p:blipFill>
        <p:spPr>
          <a:xfrm>
            <a:off x="1024128" y="2114376"/>
            <a:ext cx="3820058" cy="257211"/>
          </a:xfrm>
          <a:prstGeom prst="rect">
            <a:avLst/>
          </a:prstGeom>
        </p:spPr>
      </p:pic>
      <p:pic>
        <p:nvPicPr>
          <p:cNvPr id="14" name="Picture 13">
            <a:extLst>
              <a:ext uri="{FF2B5EF4-FFF2-40B4-BE49-F238E27FC236}">
                <a16:creationId xmlns:a16="http://schemas.microsoft.com/office/drawing/2014/main" id="{CAFC2DFF-345F-1B38-BAE1-25C3C9CFE005}"/>
              </a:ext>
            </a:extLst>
          </p:cNvPr>
          <p:cNvPicPr>
            <a:picLocks noChangeAspect="1"/>
          </p:cNvPicPr>
          <p:nvPr/>
        </p:nvPicPr>
        <p:blipFill>
          <a:blip r:embed="rId3"/>
          <a:stretch>
            <a:fillRect/>
          </a:stretch>
        </p:blipFill>
        <p:spPr>
          <a:xfrm>
            <a:off x="1024129" y="2856217"/>
            <a:ext cx="4437966" cy="3347028"/>
          </a:xfrm>
          <a:prstGeom prst="rect">
            <a:avLst/>
          </a:prstGeom>
        </p:spPr>
      </p:pic>
    </p:spTree>
    <p:extLst>
      <p:ext uri="{BB962C8B-B14F-4D97-AF65-F5344CB8AC3E}">
        <p14:creationId xmlns:p14="http://schemas.microsoft.com/office/powerpoint/2010/main" val="2640188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a:xfrm>
            <a:off x="4713224" y="1105351"/>
            <a:ext cx="6353967" cy="3023981"/>
          </a:xfrm>
        </p:spPr>
        <p:txBody>
          <a:bodyPr vert="horz" lIns="91440" tIns="45720" rIns="91440" bIns="45720" rtlCol="0" anchor="b">
            <a:normAutofit/>
          </a:bodyPr>
          <a:lstStyle/>
          <a:p>
            <a:r>
              <a:rPr lang="en-US" sz="4800" b="0" i="0" cap="all" spc="200" dirty="0">
                <a:solidFill>
                  <a:schemeClr val="accent1"/>
                </a:solidFill>
                <a:effectLst/>
                <a:highlight>
                  <a:srgbClr val="FFFFFF"/>
                </a:highlight>
              </a:rPr>
              <a:t>EDA and Text Preprocessing</a:t>
            </a:r>
          </a:p>
        </p:txBody>
      </p:sp>
      <p:cxnSp>
        <p:nvCxnSpPr>
          <p:cNvPr id="19" name="Straight Connector 18">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1" name="Rectangle 20">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1394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r>
              <a:rPr lang="en-US" dirty="0">
                <a:cs typeface="Arial" panose="020B0604020202020204" pitchFamily="34" charset="0"/>
              </a:rPr>
              <a:t>Checking for null values</a:t>
            </a:r>
          </a:p>
        </p:txBody>
      </p:sp>
      <p:pic>
        <p:nvPicPr>
          <p:cNvPr id="4" name="Picture 3">
            <a:extLst>
              <a:ext uri="{FF2B5EF4-FFF2-40B4-BE49-F238E27FC236}">
                <a16:creationId xmlns:a16="http://schemas.microsoft.com/office/drawing/2014/main" id="{8C502F37-0AAB-E602-B293-0A06D0FA8EF2}"/>
              </a:ext>
            </a:extLst>
          </p:cNvPr>
          <p:cNvPicPr>
            <a:picLocks noChangeAspect="1"/>
          </p:cNvPicPr>
          <p:nvPr/>
        </p:nvPicPr>
        <p:blipFill>
          <a:blip r:embed="rId2"/>
          <a:stretch>
            <a:fillRect/>
          </a:stretch>
        </p:blipFill>
        <p:spPr>
          <a:xfrm>
            <a:off x="1024128" y="2084832"/>
            <a:ext cx="2547208" cy="1711202"/>
          </a:xfrm>
          <a:prstGeom prst="rect">
            <a:avLst/>
          </a:prstGeom>
        </p:spPr>
      </p:pic>
      <p:sp>
        <p:nvSpPr>
          <p:cNvPr id="5" name="TextBox 4">
            <a:extLst>
              <a:ext uri="{FF2B5EF4-FFF2-40B4-BE49-F238E27FC236}">
                <a16:creationId xmlns:a16="http://schemas.microsoft.com/office/drawing/2014/main" id="{45867CB5-BDA4-3D0D-66FD-3E6955FA97DF}"/>
              </a:ext>
            </a:extLst>
          </p:cNvPr>
          <p:cNvSpPr txBox="1"/>
          <p:nvPr/>
        </p:nvSpPr>
        <p:spPr>
          <a:xfrm>
            <a:off x="1070366" y="4092404"/>
            <a:ext cx="9151936" cy="1077218"/>
          </a:xfrm>
          <a:prstGeom prst="rect">
            <a:avLst/>
          </a:prstGeom>
          <a:noFill/>
        </p:spPr>
        <p:txBody>
          <a:bodyPr wrap="square" rtlCol="0">
            <a:spAutoFit/>
          </a:bodyPr>
          <a:lstStyle/>
          <a:p>
            <a:pPr algn="ctr"/>
            <a:r>
              <a:rPr lang="en-US" sz="3200" i="1" dirty="0">
                <a:solidFill>
                  <a:schemeClr val="accent1"/>
                </a:solidFill>
                <a:highlight>
                  <a:srgbClr val="FFFFFF"/>
                </a:highlight>
              </a:rPr>
              <a:t>No null values neither in headline nor in </a:t>
            </a:r>
            <a:r>
              <a:rPr lang="en-US" sz="3200" i="1" dirty="0" err="1">
                <a:solidFill>
                  <a:schemeClr val="accent1"/>
                </a:solidFill>
                <a:highlight>
                  <a:srgbClr val="FFFFFF"/>
                </a:highlight>
              </a:rPr>
              <a:t>is_sarcastic</a:t>
            </a:r>
            <a:r>
              <a:rPr lang="en-US" sz="3200" i="1" dirty="0">
                <a:solidFill>
                  <a:schemeClr val="accent1"/>
                </a:solidFill>
                <a:highlight>
                  <a:srgbClr val="FFFFFF"/>
                </a:highlight>
              </a:rPr>
              <a:t> </a:t>
            </a:r>
            <a:r>
              <a:rPr lang="en-US" sz="3200" i="1" dirty="0" err="1">
                <a:solidFill>
                  <a:schemeClr val="accent1"/>
                </a:solidFill>
                <a:highlight>
                  <a:srgbClr val="FFFFFF"/>
                </a:highlight>
              </a:rPr>
              <a:t>cloumns</a:t>
            </a:r>
            <a:endParaRPr lang="en-US" sz="3200" dirty="0"/>
          </a:p>
        </p:txBody>
      </p:sp>
    </p:spTree>
    <p:extLst>
      <p:ext uri="{BB962C8B-B14F-4D97-AF65-F5344CB8AC3E}">
        <p14:creationId xmlns:p14="http://schemas.microsoft.com/office/powerpoint/2010/main" val="1796067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pPr algn="l"/>
            <a:r>
              <a:rPr lang="en-US" b="0" i="0" dirty="0">
                <a:solidFill>
                  <a:srgbClr val="212121"/>
                </a:solidFill>
                <a:effectLst/>
                <a:highlight>
                  <a:srgbClr val="FFFFFF"/>
                </a:highlight>
                <a:latin typeface="Roboto" panose="02000000000000000000" pitchFamily="2" charset="0"/>
              </a:rPr>
              <a:t>Classes Balance/Imbalance</a:t>
            </a:r>
          </a:p>
        </p:txBody>
      </p:sp>
      <p:pic>
        <p:nvPicPr>
          <p:cNvPr id="6" name="Picture 5">
            <a:extLst>
              <a:ext uri="{FF2B5EF4-FFF2-40B4-BE49-F238E27FC236}">
                <a16:creationId xmlns:a16="http://schemas.microsoft.com/office/drawing/2014/main" id="{0F6A9701-D975-5C4F-D33E-ABB6EE095F4E}"/>
              </a:ext>
            </a:extLst>
          </p:cNvPr>
          <p:cNvPicPr>
            <a:picLocks noChangeAspect="1"/>
          </p:cNvPicPr>
          <p:nvPr/>
        </p:nvPicPr>
        <p:blipFill>
          <a:blip r:embed="rId2"/>
          <a:stretch>
            <a:fillRect/>
          </a:stretch>
        </p:blipFill>
        <p:spPr>
          <a:xfrm>
            <a:off x="884247" y="1808568"/>
            <a:ext cx="11307753" cy="276264"/>
          </a:xfrm>
          <a:prstGeom prst="rect">
            <a:avLst/>
          </a:prstGeom>
        </p:spPr>
      </p:pic>
      <p:pic>
        <p:nvPicPr>
          <p:cNvPr id="8" name="Picture 7">
            <a:extLst>
              <a:ext uri="{FF2B5EF4-FFF2-40B4-BE49-F238E27FC236}">
                <a16:creationId xmlns:a16="http://schemas.microsoft.com/office/drawing/2014/main" id="{BE9B3CC5-E4A0-C868-2747-F61B43A54F8C}"/>
              </a:ext>
            </a:extLst>
          </p:cNvPr>
          <p:cNvPicPr>
            <a:picLocks noChangeAspect="1"/>
          </p:cNvPicPr>
          <p:nvPr/>
        </p:nvPicPr>
        <p:blipFill>
          <a:blip r:embed="rId3"/>
          <a:stretch>
            <a:fillRect/>
          </a:stretch>
        </p:blipFill>
        <p:spPr>
          <a:xfrm>
            <a:off x="1272476" y="2183595"/>
            <a:ext cx="9647048" cy="4456643"/>
          </a:xfrm>
          <a:prstGeom prst="rect">
            <a:avLst/>
          </a:prstGeom>
        </p:spPr>
      </p:pic>
    </p:spTree>
    <p:extLst>
      <p:ext uri="{BB962C8B-B14F-4D97-AF65-F5344CB8AC3E}">
        <p14:creationId xmlns:p14="http://schemas.microsoft.com/office/powerpoint/2010/main" val="1219847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normAutofit/>
          </a:bodyPr>
          <a:lstStyle/>
          <a:p>
            <a:pPr algn="l"/>
            <a:r>
              <a:rPr lang="en-US" b="0" i="0" dirty="0">
                <a:solidFill>
                  <a:srgbClr val="212121"/>
                </a:solidFill>
                <a:effectLst/>
                <a:highlight>
                  <a:srgbClr val="FFFFFF"/>
                </a:highlight>
                <a:latin typeface="Roboto" panose="02000000000000000000" pitchFamily="2" charset="0"/>
              </a:rPr>
              <a:t>Text Cleaning &amp; Lemmatization</a:t>
            </a:r>
          </a:p>
        </p:txBody>
      </p:sp>
      <p:sp>
        <p:nvSpPr>
          <p:cNvPr id="3" name="TextBox 2">
            <a:extLst>
              <a:ext uri="{FF2B5EF4-FFF2-40B4-BE49-F238E27FC236}">
                <a16:creationId xmlns:a16="http://schemas.microsoft.com/office/drawing/2014/main" id="{75C2A5B9-9474-DB8C-8F6D-EDB7775AB63F}"/>
              </a:ext>
            </a:extLst>
          </p:cNvPr>
          <p:cNvSpPr txBox="1"/>
          <p:nvPr/>
        </p:nvSpPr>
        <p:spPr>
          <a:xfrm>
            <a:off x="1024128" y="1808787"/>
            <a:ext cx="9491472" cy="4278094"/>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rgbClr val="3C4043"/>
                </a:solidFill>
                <a:highlight>
                  <a:srgbClr val="FFFFFF"/>
                </a:highlight>
              </a:rPr>
              <a:t>Each headline should be processed and cleaned in order to be suitable for the classification task. So, </a:t>
            </a:r>
          </a:p>
          <a:p>
            <a:pPr marL="914400" lvl="1" indent="-457200">
              <a:buFont typeface="Courier New" panose="02070309020205020404" pitchFamily="49" charset="0"/>
              <a:buChar char="o"/>
            </a:pPr>
            <a:r>
              <a:rPr lang="en-US" sz="2400" b="1" dirty="0">
                <a:solidFill>
                  <a:srgbClr val="3C4043"/>
                </a:solidFill>
                <a:highlight>
                  <a:srgbClr val="FFFFFF"/>
                </a:highlight>
              </a:rPr>
              <a:t>White spaces and new lines are removed</a:t>
            </a:r>
          </a:p>
          <a:p>
            <a:pPr marL="914400" lvl="1" indent="-457200">
              <a:buFont typeface="Courier New" panose="02070309020205020404" pitchFamily="49" charset="0"/>
              <a:buChar char="o"/>
            </a:pPr>
            <a:r>
              <a:rPr lang="en-US" sz="2400" b="1" dirty="0">
                <a:solidFill>
                  <a:srgbClr val="3C4043"/>
                </a:solidFill>
                <a:highlight>
                  <a:srgbClr val="FFFFFF"/>
                </a:highlight>
              </a:rPr>
              <a:t>Non-alphanumeric characters are removed</a:t>
            </a:r>
          </a:p>
          <a:p>
            <a:pPr marL="914400" lvl="1" indent="-457200">
              <a:buFont typeface="Courier New" panose="02070309020205020404" pitchFamily="49" charset="0"/>
              <a:buChar char="o"/>
            </a:pPr>
            <a:r>
              <a:rPr lang="en-US" sz="2400" b="1" dirty="0">
                <a:solidFill>
                  <a:srgbClr val="3C4043"/>
                </a:solidFill>
                <a:highlight>
                  <a:srgbClr val="FFFFFF"/>
                </a:highlight>
              </a:rPr>
              <a:t>All characters are changed to lowercase</a:t>
            </a:r>
          </a:p>
          <a:p>
            <a:pPr marL="914400" lvl="1" indent="-457200">
              <a:buFont typeface="Courier New" panose="02070309020205020404" pitchFamily="49" charset="0"/>
              <a:buChar char="o"/>
            </a:pPr>
            <a:r>
              <a:rPr lang="en-US" sz="2400" b="1" dirty="0">
                <a:solidFill>
                  <a:srgbClr val="3C4043"/>
                </a:solidFill>
                <a:highlight>
                  <a:srgbClr val="FFFFFF"/>
                </a:highlight>
              </a:rPr>
              <a:t>Stop words except “not” are removed</a:t>
            </a:r>
          </a:p>
          <a:p>
            <a:pPr marL="914400" lvl="1" indent="-457200">
              <a:buFont typeface="Courier New" panose="02070309020205020404" pitchFamily="49" charset="0"/>
              <a:buChar char="o"/>
            </a:pPr>
            <a:r>
              <a:rPr lang="en-US" sz="2400" b="1" i="0" dirty="0">
                <a:solidFill>
                  <a:srgbClr val="3C4043"/>
                </a:solidFill>
                <a:effectLst/>
                <a:highlight>
                  <a:srgbClr val="FFFFFF"/>
                </a:highlight>
              </a:rPr>
              <a:t>All words are lemmatized to their root verb</a:t>
            </a:r>
          </a:p>
          <a:p>
            <a:pPr marL="914400" lvl="1" indent="-457200">
              <a:buFont typeface="Courier New" panose="02070309020205020404" pitchFamily="49" charset="0"/>
              <a:buChar char="o"/>
            </a:pPr>
            <a:endParaRPr lang="en-US" sz="2400" b="1" dirty="0">
              <a:solidFill>
                <a:srgbClr val="3C4043"/>
              </a:solidFill>
              <a:highlight>
                <a:srgbClr val="FFFFFF"/>
              </a:highlight>
            </a:endParaRPr>
          </a:p>
          <a:p>
            <a:pPr marL="457200" indent="-457200">
              <a:buFont typeface="Arial" panose="020B0604020202020204" pitchFamily="34" charset="0"/>
              <a:buChar char="•"/>
            </a:pPr>
            <a:r>
              <a:rPr lang="en-US" sz="2400" dirty="0">
                <a:solidFill>
                  <a:srgbClr val="3C4043"/>
                </a:solidFill>
                <a:highlight>
                  <a:srgbClr val="FFFFFF"/>
                </a:highlight>
              </a:rPr>
              <a:t>Example:</a:t>
            </a:r>
          </a:p>
          <a:p>
            <a:pPr lvl="1"/>
            <a:r>
              <a:rPr lang="en-US" sz="1600" b="1" dirty="0">
                <a:solidFill>
                  <a:srgbClr val="3C4043"/>
                </a:solidFill>
                <a:highlight>
                  <a:srgbClr val="FFFFFF"/>
                </a:highlight>
              </a:rPr>
              <a:t>headline </a:t>
            </a:r>
            <a:r>
              <a:rPr lang="en-US" sz="1600" b="1" dirty="0">
                <a:solidFill>
                  <a:srgbClr val="3C4043"/>
                </a:solidFill>
              </a:rPr>
              <a:t>= “</a:t>
            </a:r>
            <a:r>
              <a:rPr lang="en-US" sz="1600" b="0" i="0" dirty="0">
                <a:solidFill>
                  <a:srgbClr val="FF0000"/>
                </a:solidFill>
                <a:effectLst/>
                <a:latin typeface="Roboto" panose="02000000000000000000" pitchFamily="2" charset="0"/>
              </a:rPr>
              <a:t>the</a:t>
            </a:r>
            <a:r>
              <a:rPr lang="en-US" sz="1600" b="0" i="0" dirty="0">
                <a:solidFill>
                  <a:srgbClr val="212121"/>
                </a:solidFill>
                <a:effectLst/>
                <a:latin typeface="Roboto" panose="02000000000000000000" pitchFamily="2" charset="0"/>
              </a:rPr>
              <a:t> </a:t>
            </a:r>
            <a:r>
              <a:rPr lang="en-US" sz="1600" b="0" i="0" dirty="0">
                <a:solidFill>
                  <a:srgbClr val="FF0000"/>
                </a:solidFill>
                <a:effectLst/>
                <a:latin typeface="Roboto" panose="02000000000000000000" pitchFamily="2" charset="0"/>
              </a:rPr>
              <a:t>'</a:t>
            </a:r>
            <a:r>
              <a:rPr lang="en-US" sz="1600" b="0" i="0" dirty="0" err="1">
                <a:solidFill>
                  <a:srgbClr val="212121"/>
                </a:solidFill>
                <a:effectLst/>
                <a:latin typeface="Roboto" panose="02000000000000000000" pitchFamily="2" charset="0"/>
              </a:rPr>
              <a:t>roseanne</a:t>
            </a:r>
            <a:r>
              <a:rPr lang="en-US" sz="1600" b="0" i="0" dirty="0">
                <a:solidFill>
                  <a:srgbClr val="FF0000"/>
                </a:solidFill>
                <a:effectLst/>
                <a:latin typeface="Roboto" panose="02000000000000000000" pitchFamily="2" charset="0"/>
              </a:rPr>
              <a:t>'</a:t>
            </a:r>
            <a:r>
              <a:rPr lang="en-US" sz="1600" b="0" i="0" dirty="0">
                <a:solidFill>
                  <a:srgbClr val="212121"/>
                </a:solidFill>
                <a:effectLst/>
                <a:latin typeface="Roboto" panose="02000000000000000000" pitchFamily="2" charset="0"/>
              </a:rPr>
              <a:t> revival catch</a:t>
            </a:r>
            <a:r>
              <a:rPr lang="en-US" sz="1600" b="0" i="0" dirty="0">
                <a:solidFill>
                  <a:srgbClr val="FF0000"/>
                </a:solidFill>
                <a:effectLst/>
                <a:latin typeface="Roboto" panose="02000000000000000000" pitchFamily="2" charset="0"/>
              </a:rPr>
              <a:t>es</a:t>
            </a:r>
            <a:r>
              <a:rPr lang="en-US" sz="1600" b="0" i="0" dirty="0">
                <a:solidFill>
                  <a:srgbClr val="212121"/>
                </a:solidFill>
                <a:effectLst/>
                <a:latin typeface="Roboto" panose="02000000000000000000" pitchFamily="2" charset="0"/>
              </a:rPr>
              <a:t> </a:t>
            </a:r>
            <a:r>
              <a:rPr lang="en-US" sz="1600" b="0" i="0" dirty="0">
                <a:solidFill>
                  <a:srgbClr val="FF0000"/>
                </a:solidFill>
                <a:effectLst/>
                <a:latin typeface="Roboto" panose="02000000000000000000" pitchFamily="2" charset="0"/>
              </a:rPr>
              <a:t>up to our </a:t>
            </a:r>
            <a:r>
              <a:rPr lang="en-US" sz="1600" b="0" i="0" dirty="0">
                <a:solidFill>
                  <a:srgbClr val="212121"/>
                </a:solidFill>
                <a:effectLst/>
                <a:latin typeface="Roboto" panose="02000000000000000000" pitchFamily="2" charset="0"/>
              </a:rPr>
              <a:t>thorny political mood</a:t>
            </a:r>
            <a:r>
              <a:rPr lang="en-US" sz="1600" b="0" i="0" dirty="0">
                <a:solidFill>
                  <a:srgbClr val="FF0000"/>
                </a:solidFill>
                <a:effectLst/>
                <a:latin typeface="Roboto" panose="02000000000000000000" pitchFamily="2" charset="0"/>
              </a:rPr>
              <a:t>,</a:t>
            </a:r>
            <a:r>
              <a:rPr lang="en-US" sz="1600" b="0" i="0" dirty="0">
                <a:solidFill>
                  <a:srgbClr val="212121"/>
                </a:solidFill>
                <a:effectLst/>
                <a:latin typeface="Roboto" panose="02000000000000000000" pitchFamily="2" charset="0"/>
              </a:rPr>
              <a:t> </a:t>
            </a:r>
            <a:r>
              <a:rPr lang="en-US" sz="1600" b="0" i="0" dirty="0">
                <a:solidFill>
                  <a:srgbClr val="FF0000"/>
                </a:solidFill>
                <a:effectLst/>
                <a:latin typeface="Roboto" panose="02000000000000000000" pitchFamily="2" charset="0"/>
              </a:rPr>
              <a:t>for</a:t>
            </a:r>
            <a:r>
              <a:rPr lang="en-US" sz="1600" b="0" i="0" dirty="0">
                <a:solidFill>
                  <a:srgbClr val="212121"/>
                </a:solidFill>
                <a:effectLst/>
                <a:latin typeface="Roboto" panose="02000000000000000000" pitchFamily="2" charset="0"/>
              </a:rPr>
              <a:t> better </a:t>
            </a:r>
            <a:r>
              <a:rPr lang="en-US" sz="1600" b="0" i="0" dirty="0">
                <a:solidFill>
                  <a:srgbClr val="FF0000"/>
                </a:solidFill>
                <a:effectLst/>
                <a:latin typeface="Roboto" panose="02000000000000000000" pitchFamily="2" charset="0"/>
              </a:rPr>
              <a:t>and</a:t>
            </a:r>
            <a:r>
              <a:rPr lang="en-US" sz="1600" b="0" i="0" dirty="0">
                <a:solidFill>
                  <a:srgbClr val="212121"/>
                </a:solidFill>
                <a:effectLst/>
                <a:latin typeface="Roboto" panose="02000000000000000000" pitchFamily="2" charset="0"/>
              </a:rPr>
              <a:t> worse</a:t>
            </a:r>
            <a:r>
              <a:rPr lang="en-US" sz="1600" b="1" dirty="0">
                <a:solidFill>
                  <a:srgbClr val="3C4043"/>
                </a:solidFill>
              </a:rPr>
              <a:t>”</a:t>
            </a:r>
          </a:p>
          <a:p>
            <a:pPr lvl="1"/>
            <a:r>
              <a:rPr lang="en-US" sz="1600" b="1" dirty="0" err="1">
                <a:solidFill>
                  <a:srgbClr val="3C4043"/>
                </a:solidFill>
                <a:highlight>
                  <a:srgbClr val="FFFFFF"/>
                </a:highlight>
              </a:rPr>
              <a:t>clean_headline</a:t>
            </a:r>
            <a:r>
              <a:rPr lang="en-US" sz="1600" b="1" dirty="0">
                <a:solidFill>
                  <a:srgbClr val="3C4043"/>
                </a:solidFill>
                <a:highlight>
                  <a:srgbClr val="FFFFFF"/>
                </a:highlight>
              </a:rPr>
              <a:t> = “</a:t>
            </a:r>
            <a:r>
              <a:rPr lang="en-US" sz="1600" dirty="0" err="1">
                <a:solidFill>
                  <a:srgbClr val="3C4043"/>
                </a:solidFill>
                <a:highlight>
                  <a:srgbClr val="FFFFFF"/>
                </a:highlight>
              </a:rPr>
              <a:t>roseanne</a:t>
            </a:r>
            <a:r>
              <a:rPr lang="en-US" sz="1600" dirty="0">
                <a:solidFill>
                  <a:srgbClr val="3C4043"/>
                </a:solidFill>
                <a:highlight>
                  <a:srgbClr val="FFFFFF"/>
                </a:highlight>
              </a:rPr>
              <a:t> revival catch thorny political mood better worse</a:t>
            </a:r>
            <a:r>
              <a:rPr lang="en-US" sz="1600" b="1" dirty="0">
                <a:solidFill>
                  <a:srgbClr val="3C4043"/>
                </a:solidFill>
                <a:highlight>
                  <a:srgbClr val="FFFFFF"/>
                </a:highlight>
              </a:rPr>
              <a:t>”</a:t>
            </a:r>
            <a:endParaRPr lang="en-US" sz="1600" dirty="0">
              <a:solidFill>
                <a:srgbClr val="3C4043"/>
              </a:solidFill>
              <a:highlight>
                <a:srgbClr val="FFFFFF"/>
              </a:highlight>
            </a:endParaRPr>
          </a:p>
          <a:p>
            <a:endParaRPr lang="en-US" sz="2400" dirty="0">
              <a:solidFill>
                <a:srgbClr val="3C4043"/>
              </a:solidFill>
              <a:highlight>
                <a:srgbClr val="FFFFFF"/>
              </a:highlight>
            </a:endParaRPr>
          </a:p>
        </p:txBody>
      </p:sp>
    </p:spTree>
    <p:extLst>
      <p:ext uri="{BB962C8B-B14F-4D97-AF65-F5344CB8AC3E}">
        <p14:creationId xmlns:p14="http://schemas.microsoft.com/office/powerpoint/2010/main" val="1683663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normAutofit/>
          </a:bodyPr>
          <a:lstStyle/>
          <a:p>
            <a:pPr algn="l"/>
            <a:r>
              <a:rPr lang="en-US" b="0" i="0" dirty="0">
                <a:solidFill>
                  <a:srgbClr val="212121"/>
                </a:solidFill>
                <a:effectLst/>
                <a:highlight>
                  <a:srgbClr val="FFFFFF"/>
                </a:highlight>
                <a:latin typeface="Roboto" panose="02000000000000000000" pitchFamily="2" charset="0"/>
              </a:rPr>
              <a:t>Text Cleaning &amp; Lemmatization</a:t>
            </a:r>
          </a:p>
        </p:txBody>
      </p:sp>
      <p:pic>
        <p:nvPicPr>
          <p:cNvPr id="5" name="Picture 4">
            <a:extLst>
              <a:ext uri="{FF2B5EF4-FFF2-40B4-BE49-F238E27FC236}">
                <a16:creationId xmlns:a16="http://schemas.microsoft.com/office/drawing/2014/main" id="{13206C67-5605-D32F-F827-AF937D0D25AE}"/>
              </a:ext>
            </a:extLst>
          </p:cNvPr>
          <p:cNvPicPr>
            <a:picLocks noChangeAspect="1"/>
          </p:cNvPicPr>
          <p:nvPr/>
        </p:nvPicPr>
        <p:blipFill>
          <a:blip r:embed="rId2"/>
          <a:stretch>
            <a:fillRect/>
          </a:stretch>
        </p:blipFill>
        <p:spPr>
          <a:xfrm>
            <a:off x="251527" y="2084832"/>
            <a:ext cx="11688946" cy="3381342"/>
          </a:xfrm>
          <a:prstGeom prst="rect">
            <a:avLst/>
          </a:prstGeom>
        </p:spPr>
      </p:pic>
    </p:spTree>
    <p:extLst>
      <p:ext uri="{BB962C8B-B14F-4D97-AF65-F5344CB8AC3E}">
        <p14:creationId xmlns:p14="http://schemas.microsoft.com/office/powerpoint/2010/main" val="657829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normAutofit/>
          </a:bodyPr>
          <a:lstStyle/>
          <a:p>
            <a:pPr algn="l"/>
            <a:r>
              <a:rPr lang="en-US" b="0" i="0" dirty="0">
                <a:solidFill>
                  <a:srgbClr val="212121"/>
                </a:solidFill>
                <a:effectLst/>
                <a:highlight>
                  <a:srgbClr val="FFFFFF"/>
                </a:highlight>
                <a:latin typeface="Roboto" panose="02000000000000000000" pitchFamily="2" charset="0"/>
              </a:rPr>
              <a:t>Text Cleaning &amp; Lemmatization</a:t>
            </a:r>
          </a:p>
        </p:txBody>
      </p:sp>
      <p:sp>
        <p:nvSpPr>
          <p:cNvPr id="3" name="TextBox 2">
            <a:extLst>
              <a:ext uri="{FF2B5EF4-FFF2-40B4-BE49-F238E27FC236}">
                <a16:creationId xmlns:a16="http://schemas.microsoft.com/office/drawing/2014/main" id="{75C2A5B9-9474-DB8C-8F6D-EDB7775AB63F}"/>
              </a:ext>
            </a:extLst>
          </p:cNvPr>
          <p:cNvSpPr txBox="1"/>
          <p:nvPr/>
        </p:nvSpPr>
        <p:spPr>
          <a:xfrm>
            <a:off x="1024128" y="2242016"/>
            <a:ext cx="10526642"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3C4043"/>
                </a:solidFill>
                <a:highlight>
                  <a:srgbClr val="FFFFFF"/>
                </a:highlight>
              </a:rPr>
              <a:t>The new clean headline is then added as a new column to the dataset</a:t>
            </a:r>
            <a:endParaRPr lang="en-US" sz="2400" b="1" dirty="0">
              <a:solidFill>
                <a:srgbClr val="3C4043"/>
              </a:solidFill>
              <a:highlight>
                <a:srgbClr val="FFFFFF"/>
              </a:highlight>
            </a:endParaRPr>
          </a:p>
        </p:txBody>
      </p:sp>
      <p:pic>
        <p:nvPicPr>
          <p:cNvPr id="5" name="Picture 4">
            <a:extLst>
              <a:ext uri="{FF2B5EF4-FFF2-40B4-BE49-F238E27FC236}">
                <a16:creationId xmlns:a16="http://schemas.microsoft.com/office/drawing/2014/main" id="{C9BE6799-8062-0536-D857-194A22446A17}"/>
              </a:ext>
            </a:extLst>
          </p:cNvPr>
          <p:cNvPicPr>
            <a:picLocks noChangeAspect="1"/>
          </p:cNvPicPr>
          <p:nvPr/>
        </p:nvPicPr>
        <p:blipFill>
          <a:blip r:embed="rId2"/>
          <a:stretch>
            <a:fillRect/>
          </a:stretch>
        </p:blipFill>
        <p:spPr>
          <a:xfrm>
            <a:off x="1024128" y="1927647"/>
            <a:ext cx="6049219" cy="314369"/>
          </a:xfrm>
          <a:prstGeom prst="rect">
            <a:avLst/>
          </a:prstGeom>
        </p:spPr>
      </p:pic>
      <p:pic>
        <p:nvPicPr>
          <p:cNvPr id="7" name="Picture 6">
            <a:extLst>
              <a:ext uri="{FF2B5EF4-FFF2-40B4-BE49-F238E27FC236}">
                <a16:creationId xmlns:a16="http://schemas.microsoft.com/office/drawing/2014/main" id="{87D8A078-C113-7481-744D-C91861D7B766}"/>
              </a:ext>
            </a:extLst>
          </p:cNvPr>
          <p:cNvPicPr>
            <a:picLocks noChangeAspect="1"/>
          </p:cNvPicPr>
          <p:nvPr/>
        </p:nvPicPr>
        <p:blipFill>
          <a:blip r:embed="rId3"/>
          <a:stretch>
            <a:fillRect/>
          </a:stretch>
        </p:blipFill>
        <p:spPr>
          <a:xfrm>
            <a:off x="1024127" y="3016205"/>
            <a:ext cx="6256567" cy="2898489"/>
          </a:xfrm>
          <a:prstGeom prst="rect">
            <a:avLst/>
          </a:prstGeom>
        </p:spPr>
      </p:pic>
    </p:spTree>
    <p:extLst>
      <p:ext uri="{BB962C8B-B14F-4D97-AF65-F5344CB8AC3E}">
        <p14:creationId xmlns:p14="http://schemas.microsoft.com/office/powerpoint/2010/main" val="2066024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normAutofit/>
          </a:bodyPr>
          <a:lstStyle/>
          <a:p>
            <a:pPr algn="l"/>
            <a:r>
              <a:rPr lang="en-US" b="0" i="0" dirty="0">
                <a:solidFill>
                  <a:srgbClr val="212121"/>
                </a:solidFill>
                <a:effectLst/>
                <a:highlight>
                  <a:srgbClr val="FFFFFF"/>
                </a:highlight>
                <a:latin typeface="Roboto" panose="02000000000000000000" pitchFamily="2" charset="0"/>
              </a:rPr>
              <a:t>Features Extraction</a:t>
            </a:r>
          </a:p>
        </p:txBody>
      </p:sp>
      <p:sp>
        <p:nvSpPr>
          <p:cNvPr id="3" name="TextBox 2">
            <a:extLst>
              <a:ext uri="{FF2B5EF4-FFF2-40B4-BE49-F238E27FC236}">
                <a16:creationId xmlns:a16="http://schemas.microsoft.com/office/drawing/2014/main" id="{75C2A5B9-9474-DB8C-8F6D-EDB7775AB63F}"/>
              </a:ext>
            </a:extLst>
          </p:cNvPr>
          <p:cNvSpPr txBox="1"/>
          <p:nvPr/>
        </p:nvSpPr>
        <p:spPr>
          <a:xfrm>
            <a:off x="1024128" y="1808787"/>
            <a:ext cx="9491472"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rgbClr val="3C4043"/>
                </a:solidFill>
                <a:highlight>
                  <a:srgbClr val="FFFFFF"/>
                </a:highlight>
              </a:rPr>
              <a:t>Some other features are extracted from the headline column to help in further data analysis and outliers' removal, such as:  </a:t>
            </a:r>
          </a:p>
          <a:p>
            <a:pPr marL="914400" lvl="1" indent="-457200">
              <a:buFont typeface="Courier New" panose="02070309020205020404" pitchFamily="49" charset="0"/>
              <a:buChar char="o"/>
            </a:pPr>
            <a:r>
              <a:rPr lang="en-US" sz="2400" b="1" dirty="0">
                <a:solidFill>
                  <a:srgbClr val="3C4043"/>
                </a:solidFill>
                <a:highlight>
                  <a:srgbClr val="FFFFFF"/>
                </a:highlight>
              </a:rPr>
              <a:t>Character count</a:t>
            </a:r>
          </a:p>
          <a:p>
            <a:pPr marL="914400" lvl="1" indent="-457200">
              <a:buFont typeface="Courier New" panose="02070309020205020404" pitchFamily="49" charset="0"/>
              <a:buChar char="o"/>
            </a:pPr>
            <a:r>
              <a:rPr lang="en-US" sz="2400" b="1" dirty="0">
                <a:solidFill>
                  <a:srgbClr val="3C4043"/>
                </a:solidFill>
                <a:highlight>
                  <a:srgbClr val="FFFFFF"/>
                </a:highlight>
              </a:rPr>
              <a:t>Word count</a:t>
            </a:r>
          </a:p>
          <a:p>
            <a:pPr marL="914400" lvl="1" indent="-457200">
              <a:buFont typeface="Courier New" panose="02070309020205020404" pitchFamily="49" charset="0"/>
              <a:buChar char="o"/>
            </a:pPr>
            <a:r>
              <a:rPr lang="en-US" sz="2400" b="1" dirty="0">
                <a:solidFill>
                  <a:srgbClr val="3C4043"/>
                </a:solidFill>
                <a:highlight>
                  <a:srgbClr val="FFFFFF"/>
                </a:highlight>
              </a:rPr>
              <a:t>Average word length</a:t>
            </a:r>
          </a:p>
          <a:p>
            <a:pPr marL="914400" lvl="1" indent="-457200">
              <a:buFont typeface="Courier New" panose="02070309020205020404" pitchFamily="49" charset="0"/>
              <a:buChar char="o"/>
            </a:pPr>
            <a:r>
              <a:rPr lang="en-US" sz="2400" b="1" dirty="0">
                <a:solidFill>
                  <a:srgbClr val="3C4043"/>
                </a:solidFill>
                <a:highlight>
                  <a:srgbClr val="FFFFFF"/>
                </a:highlight>
              </a:rPr>
              <a:t>Sentiment (polarity) score</a:t>
            </a:r>
          </a:p>
        </p:txBody>
      </p:sp>
    </p:spTree>
    <p:extLst>
      <p:ext uri="{BB962C8B-B14F-4D97-AF65-F5344CB8AC3E}">
        <p14:creationId xmlns:p14="http://schemas.microsoft.com/office/powerpoint/2010/main" val="34080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normAutofit/>
          </a:bodyPr>
          <a:lstStyle/>
          <a:p>
            <a:pPr algn="l"/>
            <a:r>
              <a:rPr lang="en-US" b="0" i="0" dirty="0">
                <a:solidFill>
                  <a:srgbClr val="212121"/>
                </a:solidFill>
                <a:effectLst/>
                <a:highlight>
                  <a:srgbClr val="FFFFFF"/>
                </a:highlight>
                <a:latin typeface="Roboto" panose="02000000000000000000" pitchFamily="2" charset="0"/>
              </a:rPr>
              <a:t>Features Extraction</a:t>
            </a:r>
          </a:p>
        </p:txBody>
      </p:sp>
      <p:sp>
        <p:nvSpPr>
          <p:cNvPr id="3" name="TextBox 2">
            <a:extLst>
              <a:ext uri="{FF2B5EF4-FFF2-40B4-BE49-F238E27FC236}">
                <a16:creationId xmlns:a16="http://schemas.microsoft.com/office/drawing/2014/main" id="{75C2A5B9-9474-DB8C-8F6D-EDB7775AB63F}"/>
              </a:ext>
            </a:extLst>
          </p:cNvPr>
          <p:cNvSpPr txBox="1"/>
          <p:nvPr/>
        </p:nvSpPr>
        <p:spPr>
          <a:xfrm>
            <a:off x="1024128" y="1808787"/>
            <a:ext cx="9491472" cy="461665"/>
          </a:xfrm>
          <a:prstGeom prst="rect">
            <a:avLst/>
          </a:prstGeom>
          <a:noFill/>
        </p:spPr>
        <p:txBody>
          <a:bodyPr wrap="square" rtlCol="0">
            <a:spAutoFit/>
          </a:bodyPr>
          <a:lstStyle/>
          <a:p>
            <a:pPr marL="285750" indent="-285750">
              <a:buFont typeface="Arial" panose="020B0604020202020204" pitchFamily="34" charset="0"/>
              <a:buChar char="•"/>
            </a:pPr>
            <a:r>
              <a:rPr lang="en-US" sz="2400" b="1" i="0" dirty="0">
                <a:solidFill>
                  <a:srgbClr val="212121"/>
                </a:solidFill>
                <a:effectLst/>
                <a:highlight>
                  <a:srgbClr val="FFFFFF"/>
                </a:highlight>
                <a:latin typeface="Roboto" panose="02000000000000000000" pitchFamily="2" charset="0"/>
              </a:rPr>
              <a:t>Extracting </a:t>
            </a:r>
            <a:r>
              <a:rPr lang="en-US" sz="2400" b="1" i="0" dirty="0" err="1">
                <a:solidFill>
                  <a:srgbClr val="212121"/>
                </a:solidFill>
                <a:effectLst/>
                <a:highlight>
                  <a:srgbClr val="FFFFFF"/>
                </a:highlight>
                <a:latin typeface="Roboto" panose="02000000000000000000" pitchFamily="2" charset="0"/>
              </a:rPr>
              <a:t>char_count</a:t>
            </a:r>
            <a:r>
              <a:rPr lang="en-US" sz="2400" b="1" i="0" dirty="0">
                <a:solidFill>
                  <a:srgbClr val="212121"/>
                </a:solidFill>
                <a:effectLst/>
                <a:highlight>
                  <a:srgbClr val="FFFFFF"/>
                </a:highlight>
                <a:latin typeface="Roboto" panose="02000000000000000000" pitchFamily="2" charset="0"/>
              </a:rPr>
              <a:t> from </a:t>
            </a:r>
            <a:r>
              <a:rPr lang="en-US" sz="2400" b="1" i="0" dirty="0" err="1">
                <a:solidFill>
                  <a:srgbClr val="212121"/>
                </a:solidFill>
                <a:effectLst/>
                <a:highlight>
                  <a:srgbClr val="FFFFFF"/>
                </a:highlight>
                <a:latin typeface="Roboto" panose="02000000000000000000" pitchFamily="2" charset="0"/>
              </a:rPr>
              <a:t>clean_headline</a:t>
            </a:r>
            <a:endParaRPr lang="en-US" sz="2400" b="1" dirty="0">
              <a:solidFill>
                <a:srgbClr val="3C4043"/>
              </a:solidFill>
              <a:highlight>
                <a:srgbClr val="FFFFFF"/>
              </a:highlight>
            </a:endParaRPr>
          </a:p>
        </p:txBody>
      </p:sp>
      <p:pic>
        <p:nvPicPr>
          <p:cNvPr id="5" name="Picture 4">
            <a:extLst>
              <a:ext uri="{FF2B5EF4-FFF2-40B4-BE49-F238E27FC236}">
                <a16:creationId xmlns:a16="http://schemas.microsoft.com/office/drawing/2014/main" id="{82D6BA0A-629A-68DE-855D-315F24DD6D5D}"/>
              </a:ext>
            </a:extLst>
          </p:cNvPr>
          <p:cNvPicPr>
            <a:picLocks noChangeAspect="1"/>
          </p:cNvPicPr>
          <p:nvPr/>
        </p:nvPicPr>
        <p:blipFill>
          <a:blip r:embed="rId2"/>
          <a:stretch>
            <a:fillRect/>
          </a:stretch>
        </p:blipFill>
        <p:spPr>
          <a:xfrm>
            <a:off x="3145360" y="2298008"/>
            <a:ext cx="5249008" cy="247685"/>
          </a:xfrm>
          <a:prstGeom prst="rect">
            <a:avLst/>
          </a:prstGeom>
        </p:spPr>
      </p:pic>
      <p:pic>
        <p:nvPicPr>
          <p:cNvPr id="6" name="Picture 5">
            <a:extLst>
              <a:ext uri="{FF2B5EF4-FFF2-40B4-BE49-F238E27FC236}">
                <a16:creationId xmlns:a16="http://schemas.microsoft.com/office/drawing/2014/main" id="{BDEC260A-B406-91E5-CCAD-A4CEFBAD09AC}"/>
              </a:ext>
            </a:extLst>
          </p:cNvPr>
          <p:cNvPicPr>
            <a:picLocks noChangeAspect="1"/>
          </p:cNvPicPr>
          <p:nvPr/>
        </p:nvPicPr>
        <p:blipFill>
          <a:blip r:embed="rId3"/>
          <a:stretch>
            <a:fillRect/>
          </a:stretch>
        </p:blipFill>
        <p:spPr>
          <a:xfrm>
            <a:off x="1024129" y="2898845"/>
            <a:ext cx="7370240" cy="2972707"/>
          </a:xfrm>
          <a:prstGeom prst="rect">
            <a:avLst/>
          </a:prstGeom>
        </p:spPr>
      </p:pic>
    </p:spTree>
    <p:extLst>
      <p:ext uri="{BB962C8B-B14F-4D97-AF65-F5344CB8AC3E}">
        <p14:creationId xmlns:p14="http://schemas.microsoft.com/office/powerpoint/2010/main" val="3190202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normAutofit/>
          </a:bodyPr>
          <a:lstStyle/>
          <a:p>
            <a:pPr algn="l"/>
            <a:r>
              <a:rPr lang="en-US" b="0" i="0" dirty="0">
                <a:solidFill>
                  <a:srgbClr val="212121"/>
                </a:solidFill>
                <a:effectLst/>
                <a:highlight>
                  <a:srgbClr val="FFFFFF"/>
                </a:highlight>
                <a:latin typeface="Roboto" panose="02000000000000000000" pitchFamily="2" charset="0"/>
              </a:rPr>
              <a:t>Features Extraction</a:t>
            </a:r>
          </a:p>
        </p:txBody>
      </p:sp>
      <p:pic>
        <p:nvPicPr>
          <p:cNvPr id="9" name="Picture 8">
            <a:extLst>
              <a:ext uri="{FF2B5EF4-FFF2-40B4-BE49-F238E27FC236}">
                <a16:creationId xmlns:a16="http://schemas.microsoft.com/office/drawing/2014/main" id="{84725B65-F4DB-5572-B7B3-88DF2224BE22}"/>
              </a:ext>
            </a:extLst>
          </p:cNvPr>
          <p:cNvPicPr>
            <a:picLocks noChangeAspect="1"/>
          </p:cNvPicPr>
          <p:nvPr/>
        </p:nvPicPr>
        <p:blipFill>
          <a:blip r:embed="rId2"/>
          <a:stretch>
            <a:fillRect/>
          </a:stretch>
        </p:blipFill>
        <p:spPr>
          <a:xfrm>
            <a:off x="1024128" y="2898845"/>
            <a:ext cx="8076740" cy="2972241"/>
          </a:xfrm>
          <a:prstGeom prst="rect">
            <a:avLst/>
          </a:prstGeom>
        </p:spPr>
      </p:pic>
      <p:sp>
        <p:nvSpPr>
          <p:cNvPr id="3" name="TextBox 2">
            <a:extLst>
              <a:ext uri="{FF2B5EF4-FFF2-40B4-BE49-F238E27FC236}">
                <a16:creationId xmlns:a16="http://schemas.microsoft.com/office/drawing/2014/main" id="{75C2A5B9-9474-DB8C-8F6D-EDB7775AB63F}"/>
              </a:ext>
            </a:extLst>
          </p:cNvPr>
          <p:cNvSpPr txBox="1"/>
          <p:nvPr/>
        </p:nvSpPr>
        <p:spPr>
          <a:xfrm>
            <a:off x="1024128" y="1808787"/>
            <a:ext cx="9491472" cy="461665"/>
          </a:xfrm>
          <a:prstGeom prst="rect">
            <a:avLst/>
          </a:prstGeom>
          <a:noFill/>
        </p:spPr>
        <p:txBody>
          <a:bodyPr wrap="square" rtlCol="0">
            <a:spAutoFit/>
          </a:bodyPr>
          <a:lstStyle/>
          <a:p>
            <a:pPr marL="285750" indent="-285750">
              <a:buFont typeface="Arial" panose="020B0604020202020204" pitchFamily="34" charset="0"/>
              <a:buChar char="•"/>
            </a:pPr>
            <a:r>
              <a:rPr lang="en-US" sz="2400" b="1" i="0" dirty="0">
                <a:solidFill>
                  <a:srgbClr val="212121"/>
                </a:solidFill>
                <a:effectLst/>
                <a:highlight>
                  <a:srgbClr val="FFFFFF"/>
                </a:highlight>
                <a:latin typeface="Roboto" panose="02000000000000000000" pitchFamily="2" charset="0"/>
              </a:rPr>
              <a:t>Extracting </a:t>
            </a:r>
            <a:r>
              <a:rPr lang="en-US" sz="2400" b="1" dirty="0" err="1">
                <a:solidFill>
                  <a:srgbClr val="212121"/>
                </a:solidFill>
                <a:highlight>
                  <a:srgbClr val="FFFFFF"/>
                </a:highlight>
                <a:latin typeface="Roboto" panose="02000000000000000000" pitchFamily="2" charset="0"/>
              </a:rPr>
              <a:t>word</a:t>
            </a:r>
            <a:r>
              <a:rPr lang="en-US" sz="2400" b="1" i="0" dirty="0" err="1">
                <a:solidFill>
                  <a:srgbClr val="212121"/>
                </a:solidFill>
                <a:effectLst/>
                <a:highlight>
                  <a:srgbClr val="FFFFFF"/>
                </a:highlight>
                <a:latin typeface="Roboto" panose="02000000000000000000" pitchFamily="2" charset="0"/>
              </a:rPr>
              <a:t>_count</a:t>
            </a:r>
            <a:r>
              <a:rPr lang="en-US" sz="2400" b="1" i="0" dirty="0">
                <a:solidFill>
                  <a:srgbClr val="212121"/>
                </a:solidFill>
                <a:effectLst/>
                <a:highlight>
                  <a:srgbClr val="FFFFFF"/>
                </a:highlight>
                <a:latin typeface="Roboto" panose="02000000000000000000" pitchFamily="2" charset="0"/>
              </a:rPr>
              <a:t> from </a:t>
            </a:r>
            <a:r>
              <a:rPr lang="en-US" sz="2400" b="1" i="0" dirty="0" err="1">
                <a:solidFill>
                  <a:srgbClr val="212121"/>
                </a:solidFill>
                <a:effectLst/>
                <a:highlight>
                  <a:srgbClr val="FFFFFF"/>
                </a:highlight>
                <a:latin typeface="Roboto" panose="02000000000000000000" pitchFamily="2" charset="0"/>
              </a:rPr>
              <a:t>clean_headline</a:t>
            </a:r>
            <a:endParaRPr lang="en-US" sz="2400" b="1" dirty="0">
              <a:solidFill>
                <a:srgbClr val="3C4043"/>
              </a:solidFill>
              <a:highlight>
                <a:srgbClr val="FFFFFF"/>
              </a:highlight>
            </a:endParaRPr>
          </a:p>
        </p:txBody>
      </p:sp>
      <p:pic>
        <p:nvPicPr>
          <p:cNvPr id="7" name="Picture 6">
            <a:extLst>
              <a:ext uri="{FF2B5EF4-FFF2-40B4-BE49-F238E27FC236}">
                <a16:creationId xmlns:a16="http://schemas.microsoft.com/office/drawing/2014/main" id="{3328D7C4-D28C-1FE2-109C-CB4926F860D5}"/>
              </a:ext>
            </a:extLst>
          </p:cNvPr>
          <p:cNvPicPr>
            <a:picLocks noChangeAspect="1"/>
          </p:cNvPicPr>
          <p:nvPr/>
        </p:nvPicPr>
        <p:blipFill>
          <a:blip r:embed="rId3"/>
          <a:stretch>
            <a:fillRect/>
          </a:stretch>
        </p:blipFill>
        <p:spPr>
          <a:xfrm>
            <a:off x="2624137" y="2389375"/>
            <a:ext cx="6943725" cy="323850"/>
          </a:xfrm>
          <a:prstGeom prst="rect">
            <a:avLst/>
          </a:prstGeom>
        </p:spPr>
      </p:pic>
    </p:spTree>
    <p:extLst>
      <p:ext uri="{BB962C8B-B14F-4D97-AF65-F5344CB8AC3E}">
        <p14:creationId xmlns:p14="http://schemas.microsoft.com/office/powerpoint/2010/main" val="2617507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normAutofit/>
          </a:bodyPr>
          <a:lstStyle/>
          <a:p>
            <a:pPr algn="l"/>
            <a:r>
              <a:rPr lang="en-US" b="0" i="0" dirty="0">
                <a:solidFill>
                  <a:srgbClr val="212121"/>
                </a:solidFill>
                <a:effectLst/>
                <a:highlight>
                  <a:srgbClr val="FFFFFF"/>
                </a:highlight>
                <a:latin typeface="Roboto" panose="02000000000000000000" pitchFamily="2" charset="0"/>
              </a:rPr>
              <a:t>Features Extraction</a:t>
            </a:r>
          </a:p>
        </p:txBody>
      </p:sp>
      <p:pic>
        <p:nvPicPr>
          <p:cNvPr id="8" name="Picture 7">
            <a:extLst>
              <a:ext uri="{FF2B5EF4-FFF2-40B4-BE49-F238E27FC236}">
                <a16:creationId xmlns:a16="http://schemas.microsoft.com/office/drawing/2014/main" id="{4689D56E-7FC2-DAAE-F7F2-A6D8BBB07D2F}"/>
              </a:ext>
            </a:extLst>
          </p:cNvPr>
          <p:cNvPicPr>
            <a:picLocks noChangeAspect="1"/>
          </p:cNvPicPr>
          <p:nvPr/>
        </p:nvPicPr>
        <p:blipFill>
          <a:blip r:embed="rId2"/>
          <a:stretch>
            <a:fillRect/>
          </a:stretch>
        </p:blipFill>
        <p:spPr>
          <a:xfrm>
            <a:off x="1024128" y="2909770"/>
            <a:ext cx="9129163" cy="2944268"/>
          </a:xfrm>
          <a:prstGeom prst="rect">
            <a:avLst/>
          </a:prstGeom>
        </p:spPr>
      </p:pic>
      <p:sp>
        <p:nvSpPr>
          <p:cNvPr id="3" name="TextBox 2">
            <a:extLst>
              <a:ext uri="{FF2B5EF4-FFF2-40B4-BE49-F238E27FC236}">
                <a16:creationId xmlns:a16="http://schemas.microsoft.com/office/drawing/2014/main" id="{75C2A5B9-9474-DB8C-8F6D-EDB7775AB63F}"/>
              </a:ext>
            </a:extLst>
          </p:cNvPr>
          <p:cNvSpPr txBox="1"/>
          <p:nvPr/>
        </p:nvSpPr>
        <p:spPr>
          <a:xfrm>
            <a:off x="1024128" y="1808787"/>
            <a:ext cx="9491472" cy="461665"/>
          </a:xfrm>
          <a:prstGeom prst="rect">
            <a:avLst/>
          </a:prstGeom>
          <a:noFill/>
        </p:spPr>
        <p:txBody>
          <a:bodyPr wrap="square" rtlCol="0">
            <a:spAutoFit/>
          </a:bodyPr>
          <a:lstStyle/>
          <a:p>
            <a:pPr marL="285750" indent="-285750">
              <a:buFont typeface="Arial" panose="020B0604020202020204" pitchFamily="34" charset="0"/>
              <a:buChar char="•"/>
            </a:pPr>
            <a:r>
              <a:rPr lang="en-US" sz="2400" b="1" i="0" dirty="0">
                <a:solidFill>
                  <a:srgbClr val="212121"/>
                </a:solidFill>
                <a:effectLst/>
                <a:highlight>
                  <a:srgbClr val="FFFFFF"/>
                </a:highlight>
                <a:latin typeface="Roboto" panose="02000000000000000000" pitchFamily="2" charset="0"/>
              </a:rPr>
              <a:t>Extracting </a:t>
            </a:r>
            <a:r>
              <a:rPr lang="en-US" sz="2400" b="1" dirty="0" err="1">
                <a:solidFill>
                  <a:srgbClr val="212121"/>
                </a:solidFill>
                <a:highlight>
                  <a:srgbClr val="FFFFFF"/>
                </a:highlight>
                <a:latin typeface="Roboto" panose="02000000000000000000" pitchFamily="2" charset="0"/>
              </a:rPr>
              <a:t>avg_word_length</a:t>
            </a:r>
            <a:r>
              <a:rPr lang="en-US" sz="2400" b="1" i="0" dirty="0">
                <a:solidFill>
                  <a:srgbClr val="212121"/>
                </a:solidFill>
                <a:effectLst/>
                <a:highlight>
                  <a:srgbClr val="FFFFFF"/>
                </a:highlight>
                <a:latin typeface="Roboto" panose="02000000000000000000" pitchFamily="2" charset="0"/>
              </a:rPr>
              <a:t> from </a:t>
            </a:r>
            <a:r>
              <a:rPr lang="en-US" sz="2400" b="1" i="0" dirty="0" err="1">
                <a:solidFill>
                  <a:srgbClr val="212121"/>
                </a:solidFill>
                <a:effectLst/>
                <a:highlight>
                  <a:srgbClr val="FFFFFF"/>
                </a:highlight>
                <a:latin typeface="Roboto" panose="02000000000000000000" pitchFamily="2" charset="0"/>
              </a:rPr>
              <a:t>clean_headline</a:t>
            </a:r>
            <a:endParaRPr lang="en-US" sz="2400" b="1" dirty="0">
              <a:solidFill>
                <a:srgbClr val="3C4043"/>
              </a:solidFill>
              <a:highlight>
                <a:srgbClr val="FFFFFF"/>
              </a:highlight>
            </a:endParaRPr>
          </a:p>
        </p:txBody>
      </p:sp>
      <p:pic>
        <p:nvPicPr>
          <p:cNvPr id="5" name="Picture 4">
            <a:extLst>
              <a:ext uri="{FF2B5EF4-FFF2-40B4-BE49-F238E27FC236}">
                <a16:creationId xmlns:a16="http://schemas.microsoft.com/office/drawing/2014/main" id="{96401AFC-EEC7-C21B-CE2C-FDBC87AB9F67}"/>
              </a:ext>
            </a:extLst>
          </p:cNvPr>
          <p:cNvPicPr>
            <a:picLocks noChangeAspect="1"/>
          </p:cNvPicPr>
          <p:nvPr/>
        </p:nvPicPr>
        <p:blipFill>
          <a:blip r:embed="rId3"/>
          <a:stretch>
            <a:fillRect/>
          </a:stretch>
        </p:blipFill>
        <p:spPr>
          <a:xfrm>
            <a:off x="985124" y="2415424"/>
            <a:ext cx="10221751" cy="295316"/>
          </a:xfrm>
          <a:prstGeom prst="rect">
            <a:avLst/>
          </a:prstGeom>
        </p:spPr>
      </p:pic>
    </p:spTree>
    <p:extLst>
      <p:ext uri="{BB962C8B-B14F-4D97-AF65-F5344CB8AC3E}">
        <p14:creationId xmlns:p14="http://schemas.microsoft.com/office/powerpoint/2010/main" val="2895249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normAutofit/>
          </a:bodyPr>
          <a:lstStyle/>
          <a:p>
            <a:pPr algn="l"/>
            <a:r>
              <a:rPr lang="en-US" b="0" i="0" dirty="0">
                <a:solidFill>
                  <a:srgbClr val="212121"/>
                </a:solidFill>
                <a:effectLst/>
                <a:highlight>
                  <a:srgbClr val="FFFFFF"/>
                </a:highlight>
                <a:latin typeface="Roboto" panose="02000000000000000000" pitchFamily="2" charset="0"/>
              </a:rPr>
              <a:t>Features Extraction</a:t>
            </a:r>
          </a:p>
        </p:txBody>
      </p:sp>
      <p:pic>
        <p:nvPicPr>
          <p:cNvPr id="9" name="Picture 8">
            <a:extLst>
              <a:ext uri="{FF2B5EF4-FFF2-40B4-BE49-F238E27FC236}">
                <a16:creationId xmlns:a16="http://schemas.microsoft.com/office/drawing/2014/main" id="{8F608D67-234B-E131-0911-D3776645D8D7}"/>
              </a:ext>
            </a:extLst>
          </p:cNvPr>
          <p:cNvPicPr>
            <a:picLocks noChangeAspect="1"/>
          </p:cNvPicPr>
          <p:nvPr/>
        </p:nvPicPr>
        <p:blipFill>
          <a:blip r:embed="rId2"/>
          <a:stretch>
            <a:fillRect/>
          </a:stretch>
        </p:blipFill>
        <p:spPr>
          <a:xfrm>
            <a:off x="1024128" y="2895302"/>
            <a:ext cx="9802023" cy="2958735"/>
          </a:xfrm>
          <a:prstGeom prst="rect">
            <a:avLst/>
          </a:prstGeom>
        </p:spPr>
      </p:pic>
      <p:sp>
        <p:nvSpPr>
          <p:cNvPr id="3" name="TextBox 2">
            <a:extLst>
              <a:ext uri="{FF2B5EF4-FFF2-40B4-BE49-F238E27FC236}">
                <a16:creationId xmlns:a16="http://schemas.microsoft.com/office/drawing/2014/main" id="{75C2A5B9-9474-DB8C-8F6D-EDB7775AB63F}"/>
              </a:ext>
            </a:extLst>
          </p:cNvPr>
          <p:cNvSpPr txBox="1"/>
          <p:nvPr/>
        </p:nvSpPr>
        <p:spPr>
          <a:xfrm>
            <a:off x="1024128" y="1808787"/>
            <a:ext cx="9491472" cy="461665"/>
          </a:xfrm>
          <a:prstGeom prst="rect">
            <a:avLst/>
          </a:prstGeom>
          <a:noFill/>
        </p:spPr>
        <p:txBody>
          <a:bodyPr wrap="square" rtlCol="0">
            <a:spAutoFit/>
          </a:bodyPr>
          <a:lstStyle/>
          <a:p>
            <a:pPr marL="285750" indent="-285750">
              <a:buFont typeface="Arial" panose="020B0604020202020204" pitchFamily="34" charset="0"/>
              <a:buChar char="•"/>
            </a:pPr>
            <a:r>
              <a:rPr lang="en-US" sz="2400" b="1" i="0" dirty="0">
                <a:solidFill>
                  <a:srgbClr val="212121"/>
                </a:solidFill>
                <a:effectLst/>
                <a:highlight>
                  <a:srgbClr val="FFFFFF"/>
                </a:highlight>
                <a:latin typeface="Roboto" panose="02000000000000000000" pitchFamily="2" charset="0"/>
              </a:rPr>
              <a:t>Extracting </a:t>
            </a:r>
            <a:r>
              <a:rPr lang="en-US" sz="2400" b="1" dirty="0">
                <a:solidFill>
                  <a:srgbClr val="212121"/>
                </a:solidFill>
                <a:highlight>
                  <a:srgbClr val="FFFFFF"/>
                </a:highlight>
                <a:latin typeface="Roboto" panose="02000000000000000000" pitchFamily="2" charset="0"/>
              </a:rPr>
              <a:t>sentiment </a:t>
            </a:r>
            <a:r>
              <a:rPr lang="en-US" sz="2400" b="1" i="0" dirty="0">
                <a:solidFill>
                  <a:srgbClr val="212121"/>
                </a:solidFill>
                <a:effectLst/>
                <a:highlight>
                  <a:srgbClr val="FFFFFF"/>
                </a:highlight>
                <a:latin typeface="Roboto" panose="02000000000000000000" pitchFamily="2" charset="0"/>
              </a:rPr>
              <a:t>from </a:t>
            </a:r>
            <a:r>
              <a:rPr lang="en-US" sz="2400" b="1" i="0" dirty="0" err="1">
                <a:solidFill>
                  <a:srgbClr val="212121"/>
                </a:solidFill>
                <a:effectLst/>
                <a:highlight>
                  <a:srgbClr val="FFFFFF"/>
                </a:highlight>
                <a:latin typeface="Roboto" panose="02000000000000000000" pitchFamily="2" charset="0"/>
              </a:rPr>
              <a:t>clean_headline</a:t>
            </a:r>
            <a:endParaRPr lang="en-US" sz="2400" b="1" dirty="0">
              <a:solidFill>
                <a:srgbClr val="3C4043"/>
              </a:solidFill>
              <a:highlight>
                <a:srgbClr val="FFFFFF"/>
              </a:highlight>
            </a:endParaRPr>
          </a:p>
        </p:txBody>
      </p:sp>
      <p:pic>
        <p:nvPicPr>
          <p:cNvPr id="6" name="Picture 5">
            <a:extLst>
              <a:ext uri="{FF2B5EF4-FFF2-40B4-BE49-F238E27FC236}">
                <a16:creationId xmlns:a16="http://schemas.microsoft.com/office/drawing/2014/main" id="{5A62FA7C-CC3E-21AA-BF7E-E7D9A09F8A3A}"/>
              </a:ext>
            </a:extLst>
          </p:cNvPr>
          <p:cNvPicPr>
            <a:picLocks noChangeAspect="1"/>
          </p:cNvPicPr>
          <p:nvPr/>
        </p:nvPicPr>
        <p:blipFill>
          <a:blip r:embed="rId3"/>
          <a:stretch>
            <a:fillRect/>
          </a:stretch>
        </p:blipFill>
        <p:spPr>
          <a:xfrm>
            <a:off x="2161626" y="2371676"/>
            <a:ext cx="7868748" cy="352474"/>
          </a:xfrm>
          <a:prstGeom prst="rect">
            <a:avLst/>
          </a:prstGeom>
        </p:spPr>
      </p:pic>
    </p:spTree>
    <p:extLst>
      <p:ext uri="{BB962C8B-B14F-4D97-AF65-F5344CB8AC3E}">
        <p14:creationId xmlns:p14="http://schemas.microsoft.com/office/powerpoint/2010/main" val="2015442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7" name="Rectangle 20486">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489"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491" name="Straight Connector 20490">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0493" name="Rectangle 20492">
            <a:extLst>
              <a:ext uri="{FF2B5EF4-FFF2-40B4-BE49-F238E27FC236}">
                <a16:creationId xmlns:a16="http://schemas.microsoft.com/office/drawing/2014/main" id="{1D2E3C52-528A-4049-BCAA-5460756BC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9968"/>
            <a:ext cx="12192000" cy="2298032"/>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a:xfrm>
            <a:off x="457200" y="4960137"/>
            <a:ext cx="7772400" cy="1463040"/>
          </a:xfrm>
        </p:spPr>
        <p:txBody>
          <a:bodyPr vert="horz" lIns="91440" tIns="45720" rIns="91440" bIns="45720" rtlCol="0" anchor="ctr">
            <a:normAutofit/>
          </a:bodyPr>
          <a:lstStyle/>
          <a:p>
            <a:pPr algn="r"/>
            <a:r>
              <a:rPr lang="en-US" b="0" i="0" cap="all" spc="200" dirty="0">
                <a:solidFill>
                  <a:srgbClr val="FFFFFF"/>
                </a:solidFill>
                <a:effectLst/>
              </a:rPr>
              <a:t>Word Cloud</a:t>
            </a:r>
          </a:p>
        </p:txBody>
      </p:sp>
      <p:sp useBgFill="1">
        <p:nvSpPr>
          <p:cNvPr id="20495" name="Rectangle 20494">
            <a:extLst>
              <a:ext uri="{FF2B5EF4-FFF2-40B4-BE49-F238E27FC236}">
                <a16:creationId xmlns:a16="http://schemas.microsoft.com/office/drawing/2014/main" id="{CD5B542C-8183-4445-AF4D-B23AAE329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A close-up of words&#10;&#10;Description automatically generated">
            <a:extLst>
              <a:ext uri="{FF2B5EF4-FFF2-40B4-BE49-F238E27FC236}">
                <a16:creationId xmlns:a16="http://schemas.microsoft.com/office/drawing/2014/main" id="{4ECE8492-2335-AFCA-05D5-210B33295C7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4632" y="1366272"/>
            <a:ext cx="5369052" cy="1838899"/>
          </a:xfrm>
          <a:prstGeom prst="rect">
            <a:avLst/>
          </a:prstGeom>
          <a:noFill/>
          <a:extLst>
            <a:ext uri="{909E8E84-426E-40DD-AFC4-6F175D3DCCD1}">
              <a14:hiddenFill xmlns:a14="http://schemas.microsoft.com/office/drawing/2010/main">
                <a:solidFill>
                  <a:srgbClr val="FFFFFF"/>
                </a:solidFill>
              </a14:hiddenFill>
            </a:ext>
          </a:extLst>
        </p:spPr>
      </p:pic>
      <p:cxnSp>
        <p:nvCxnSpPr>
          <p:cNvPr id="20497" name="Straight Connector 20496">
            <a:extLst>
              <a:ext uri="{FF2B5EF4-FFF2-40B4-BE49-F238E27FC236}">
                <a16:creationId xmlns:a16="http://schemas.microsoft.com/office/drawing/2014/main" id="{84ED9B5A-5577-4CA5-97AA-0E5E2EA975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60141" y="822682"/>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20482" name="Picture 2" descr="A close-up of words&#10;&#10;Description automatically generated">
            <a:extLst>
              <a:ext uri="{FF2B5EF4-FFF2-40B4-BE49-F238E27FC236}">
                <a16:creationId xmlns:a16="http://schemas.microsoft.com/office/drawing/2014/main" id="{AFA2A2A2-8BB0-D6CB-2855-D7D983F551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38316" y="1371053"/>
            <a:ext cx="5341140" cy="1829339"/>
          </a:xfrm>
          <a:prstGeom prst="rect">
            <a:avLst/>
          </a:prstGeom>
          <a:noFill/>
          <a:extLst>
            <a:ext uri="{909E8E84-426E-40DD-AFC4-6F175D3DCCD1}">
              <a14:hiddenFill xmlns:a14="http://schemas.microsoft.com/office/drawing/2010/main">
                <a:solidFill>
                  <a:srgbClr val="FFFFFF"/>
                </a:solidFill>
              </a14:hiddenFill>
            </a:ext>
          </a:extLst>
        </p:spPr>
      </p:pic>
      <p:cxnSp>
        <p:nvCxnSpPr>
          <p:cNvPr id="20499" name="Straight Connector 20498">
            <a:extLst>
              <a:ext uri="{FF2B5EF4-FFF2-40B4-BE49-F238E27FC236}">
                <a16:creationId xmlns:a16="http://schemas.microsoft.com/office/drawing/2014/main" id="{2724283B-587C-4A0E-A50E-B8914975B48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C86EB24-CBDD-C6F9-4FC2-A68D1171DC27}"/>
              </a:ext>
            </a:extLst>
          </p:cNvPr>
          <p:cNvSpPr txBox="1"/>
          <p:nvPr/>
        </p:nvSpPr>
        <p:spPr>
          <a:xfrm>
            <a:off x="7687434" y="3657609"/>
            <a:ext cx="2642903" cy="584775"/>
          </a:xfrm>
          <a:prstGeom prst="rect">
            <a:avLst/>
          </a:prstGeom>
          <a:noFill/>
        </p:spPr>
        <p:txBody>
          <a:bodyPr wrap="square" rtlCol="0">
            <a:spAutoFit/>
          </a:bodyPr>
          <a:lstStyle/>
          <a:p>
            <a:pPr algn="ctr"/>
            <a:r>
              <a:rPr lang="en-US" sz="3200" i="1" dirty="0">
                <a:solidFill>
                  <a:schemeClr val="accent1"/>
                </a:solidFill>
                <a:highlight>
                  <a:srgbClr val="FFFFFF"/>
                </a:highlight>
              </a:rPr>
              <a:t>Sarcastic</a:t>
            </a:r>
            <a:endParaRPr lang="en-US" sz="3200" dirty="0"/>
          </a:p>
        </p:txBody>
      </p:sp>
      <p:sp>
        <p:nvSpPr>
          <p:cNvPr id="4" name="TextBox 3">
            <a:extLst>
              <a:ext uri="{FF2B5EF4-FFF2-40B4-BE49-F238E27FC236}">
                <a16:creationId xmlns:a16="http://schemas.microsoft.com/office/drawing/2014/main" id="{2A93CA5C-C96A-41BA-3D55-4A04ED93216A}"/>
              </a:ext>
            </a:extLst>
          </p:cNvPr>
          <p:cNvSpPr txBox="1"/>
          <p:nvPr/>
        </p:nvSpPr>
        <p:spPr>
          <a:xfrm>
            <a:off x="1847706" y="3657609"/>
            <a:ext cx="2642903" cy="584775"/>
          </a:xfrm>
          <a:prstGeom prst="rect">
            <a:avLst/>
          </a:prstGeom>
          <a:noFill/>
        </p:spPr>
        <p:txBody>
          <a:bodyPr wrap="square" rtlCol="0">
            <a:spAutoFit/>
          </a:bodyPr>
          <a:lstStyle/>
          <a:p>
            <a:pPr algn="ctr"/>
            <a:r>
              <a:rPr lang="en-US" sz="3200" i="1" dirty="0">
                <a:solidFill>
                  <a:schemeClr val="accent1"/>
                </a:solidFill>
                <a:highlight>
                  <a:srgbClr val="FFFFFF"/>
                </a:highlight>
              </a:rPr>
              <a:t>Genuine</a:t>
            </a:r>
            <a:endParaRPr lang="en-US" sz="3200" dirty="0"/>
          </a:p>
        </p:txBody>
      </p:sp>
    </p:spTree>
    <p:extLst>
      <p:ext uri="{BB962C8B-B14F-4D97-AF65-F5344CB8AC3E}">
        <p14:creationId xmlns:p14="http://schemas.microsoft.com/office/powerpoint/2010/main" val="2941779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BB34E93-88CA-4DB1-D00C-2E3DE9FAFF0E}"/>
              </a:ext>
            </a:extLst>
          </p:cNvPr>
          <p:cNvPicPr>
            <a:picLocks noChangeAspect="1"/>
          </p:cNvPicPr>
          <p:nvPr/>
        </p:nvPicPr>
        <p:blipFill rotWithShape="1">
          <a:blip r:embed="rId2"/>
          <a:srcRect t="5858"/>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CC1CA635-2D9C-4E3E-820F-5FE35AC14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9968"/>
            <a:ext cx="12192000" cy="2298032"/>
          </a:xfrm>
          <a:prstGeom prst="rect">
            <a:avLst/>
          </a:prstGeom>
          <a:solidFill>
            <a:schemeClr val="accent1">
              <a:lumMod val="75000"/>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a:xfrm>
            <a:off x="457200" y="4960137"/>
            <a:ext cx="7772400" cy="1463040"/>
          </a:xfrm>
        </p:spPr>
        <p:txBody>
          <a:bodyPr vert="horz" lIns="91440" tIns="45720" rIns="91440" bIns="45720" rtlCol="0" anchor="ctr">
            <a:normAutofit/>
          </a:bodyPr>
          <a:lstStyle/>
          <a:p>
            <a:pPr algn="r"/>
            <a:r>
              <a:rPr lang="en-US" b="0" i="0" kern="1200" cap="all" spc="200" baseline="0" dirty="0">
                <a:solidFill>
                  <a:srgbClr val="FFFFFF"/>
                </a:solidFill>
                <a:effectLst/>
                <a:latin typeface="+mj-lt"/>
                <a:ea typeface="+mj-ea"/>
                <a:cs typeface="+mj-cs"/>
              </a:rPr>
              <a:t>Model Building </a:t>
            </a:r>
          </a:p>
        </p:txBody>
      </p:sp>
      <p:cxnSp>
        <p:nvCxnSpPr>
          <p:cNvPr id="16" name="Straight Connector 15">
            <a:extLst>
              <a:ext uri="{FF2B5EF4-FFF2-40B4-BE49-F238E27FC236}">
                <a16:creationId xmlns:a16="http://schemas.microsoft.com/office/drawing/2014/main" id="{E0E62FBC-456F-48AE-91ED-3956405D76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168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4" name="Straight Connector 23">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74A886E-E8EF-48CC-8764-20EAE4538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a:xfrm>
            <a:off x="636805" y="640080"/>
            <a:ext cx="3378099" cy="4077145"/>
          </a:xfrm>
        </p:spPr>
        <p:txBody>
          <a:bodyPr vert="horz" lIns="91440" tIns="45720" rIns="91440" bIns="45720" rtlCol="0" anchor="b">
            <a:normAutofit/>
          </a:bodyPr>
          <a:lstStyle/>
          <a:p>
            <a:pPr algn="r"/>
            <a:r>
              <a:rPr lang="en-US" sz="3100" b="0" i="0" kern="1200" cap="all" spc="200" baseline="0">
                <a:solidFill>
                  <a:schemeClr val="tx1">
                    <a:lumMod val="95000"/>
                    <a:lumOff val="5000"/>
                  </a:schemeClr>
                </a:solidFill>
                <a:effectLst/>
                <a:highlight>
                  <a:srgbClr val="FFFFFF"/>
                </a:highlight>
                <a:latin typeface="+mj-lt"/>
                <a:ea typeface="+mj-ea"/>
                <a:cs typeface="+mj-cs"/>
              </a:rPr>
              <a:t>Tokenization</a:t>
            </a:r>
          </a:p>
        </p:txBody>
      </p:sp>
      <p:sp>
        <p:nvSpPr>
          <p:cNvPr id="4" name="TextBox 3">
            <a:extLst>
              <a:ext uri="{FF2B5EF4-FFF2-40B4-BE49-F238E27FC236}">
                <a16:creationId xmlns:a16="http://schemas.microsoft.com/office/drawing/2014/main" id="{E622CEE0-7E6C-14D3-EF3A-E713E74BC914}"/>
              </a:ext>
            </a:extLst>
          </p:cNvPr>
          <p:cNvSpPr txBox="1"/>
          <p:nvPr/>
        </p:nvSpPr>
        <p:spPr>
          <a:xfrm>
            <a:off x="636806" y="4915401"/>
            <a:ext cx="3378098" cy="1303495"/>
          </a:xfrm>
          <a:prstGeom prst="rect">
            <a:avLst/>
          </a:prstGeom>
        </p:spPr>
        <p:txBody>
          <a:bodyPr vert="horz" lIns="91440" tIns="45720" rIns="91440" bIns="45720" rtlCol="0" anchor="t">
            <a:normAutofit/>
          </a:bodyPr>
          <a:lstStyle/>
          <a:p>
            <a:pPr algn="r" defTabSz="914400">
              <a:spcAft>
                <a:spcPts val="200"/>
              </a:spcAft>
              <a:buClr>
                <a:schemeClr val="accent1"/>
              </a:buClr>
              <a:buSzPct val="100000"/>
            </a:pPr>
            <a:r>
              <a:rPr lang="en-US" sz="1600">
                <a:solidFill>
                  <a:schemeClr val="tx1">
                    <a:lumMod val="95000"/>
                    <a:lumOff val="5000"/>
                  </a:schemeClr>
                </a:solidFill>
              </a:rPr>
              <a:t>This is the process of converting text into a sequence of tokens (usually words or subwords). </a:t>
            </a:r>
          </a:p>
        </p:txBody>
      </p:sp>
      <p:cxnSp>
        <p:nvCxnSpPr>
          <p:cNvPr id="26" name="Straight Connector 25">
            <a:extLst>
              <a:ext uri="{FF2B5EF4-FFF2-40B4-BE49-F238E27FC236}">
                <a16:creationId xmlns:a16="http://schemas.microsoft.com/office/drawing/2014/main" id="{EB1993F9-CFC5-495F-9F26-1995344535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71704" y="4831176"/>
            <a:ext cx="2743200" cy="0"/>
          </a:xfrm>
          <a:prstGeom prst="line">
            <a:avLst/>
          </a:prstGeom>
          <a:ln w="19050">
            <a:solidFill>
              <a:srgbClr val="0010FA"/>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3C2D231-FEE6-AE04-1F47-BEF11121CEB1}"/>
              </a:ext>
            </a:extLst>
          </p:cNvPr>
          <p:cNvPicPr>
            <a:picLocks noChangeAspect="1"/>
          </p:cNvPicPr>
          <p:nvPr/>
        </p:nvPicPr>
        <p:blipFill rotWithShape="1">
          <a:blip r:embed="rId2"/>
          <a:srcRect r="17778" b="2"/>
          <a:stretch/>
        </p:blipFill>
        <p:spPr>
          <a:xfrm>
            <a:off x="4654984" y="640080"/>
            <a:ext cx="6896936" cy="5578816"/>
          </a:xfrm>
          <a:prstGeom prst="rect">
            <a:avLst/>
          </a:prstGeom>
        </p:spPr>
      </p:pic>
    </p:spTree>
    <p:extLst>
      <p:ext uri="{BB962C8B-B14F-4D97-AF65-F5344CB8AC3E}">
        <p14:creationId xmlns:p14="http://schemas.microsoft.com/office/powerpoint/2010/main" val="14011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pPr algn="l"/>
            <a:r>
              <a:rPr lang="en-US" b="0" i="0" dirty="0">
                <a:solidFill>
                  <a:srgbClr val="212121"/>
                </a:solidFill>
                <a:effectLst/>
                <a:highlight>
                  <a:srgbClr val="FFFFFF"/>
                </a:highlight>
                <a:latin typeface="Roboto" panose="02000000000000000000" pitchFamily="2" charset="0"/>
              </a:rPr>
              <a:t>Padding</a:t>
            </a:r>
          </a:p>
        </p:txBody>
      </p:sp>
      <p:sp>
        <p:nvSpPr>
          <p:cNvPr id="4" name="TextBox 3">
            <a:extLst>
              <a:ext uri="{FF2B5EF4-FFF2-40B4-BE49-F238E27FC236}">
                <a16:creationId xmlns:a16="http://schemas.microsoft.com/office/drawing/2014/main" id="{E622CEE0-7E6C-14D3-EF3A-E713E74BC914}"/>
              </a:ext>
            </a:extLst>
          </p:cNvPr>
          <p:cNvSpPr txBox="1"/>
          <p:nvPr/>
        </p:nvSpPr>
        <p:spPr>
          <a:xfrm>
            <a:off x="1024127" y="2001654"/>
            <a:ext cx="9720071" cy="923330"/>
          </a:xfrm>
          <a:prstGeom prst="rect">
            <a:avLst/>
          </a:prstGeom>
          <a:noFill/>
        </p:spPr>
        <p:txBody>
          <a:bodyPr wrap="square">
            <a:spAutoFit/>
          </a:bodyPr>
          <a:lstStyle/>
          <a:p>
            <a:r>
              <a:rPr lang="en-US" dirty="0"/>
              <a:t>Since the input sentences can have different lengths, padding ensures that all input sequences have the same length by adding extra tokens (usually zeros) to the shorter sequences and truncating longer ones.</a:t>
            </a:r>
          </a:p>
        </p:txBody>
      </p:sp>
      <p:pic>
        <p:nvPicPr>
          <p:cNvPr id="5" name="Picture 4">
            <a:extLst>
              <a:ext uri="{FF2B5EF4-FFF2-40B4-BE49-F238E27FC236}">
                <a16:creationId xmlns:a16="http://schemas.microsoft.com/office/drawing/2014/main" id="{C8FA8F61-5F6A-C791-1499-188AEEE85F62}"/>
              </a:ext>
            </a:extLst>
          </p:cNvPr>
          <p:cNvPicPr>
            <a:picLocks noChangeAspect="1"/>
          </p:cNvPicPr>
          <p:nvPr/>
        </p:nvPicPr>
        <p:blipFill>
          <a:blip r:embed="rId2"/>
          <a:stretch>
            <a:fillRect/>
          </a:stretch>
        </p:blipFill>
        <p:spPr>
          <a:xfrm>
            <a:off x="966071" y="3786637"/>
            <a:ext cx="10259857" cy="1286054"/>
          </a:xfrm>
          <a:prstGeom prst="rect">
            <a:avLst/>
          </a:prstGeom>
        </p:spPr>
      </p:pic>
    </p:spTree>
    <p:extLst>
      <p:ext uri="{BB962C8B-B14F-4D97-AF65-F5344CB8AC3E}">
        <p14:creationId xmlns:p14="http://schemas.microsoft.com/office/powerpoint/2010/main" val="4204999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1511" name="Straight Connector 21510">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a:xfrm>
            <a:off x="1024129" y="585216"/>
            <a:ext cx="4431792" cy="1499616"/>
          </a:xfrm>
        </p:spPr>
        <p:txBody>
          <a:bodyPr vert="horz" lIns="91440" tIns="45720" rIns="91440" bIns="45720" rtlCol="0" anchor="ctr">
            <a:normAutofit/>
          </a:bodyPr>
          <a:lstStyle/>
          <a:p>
            <a:r>
              <a:rPr lang="en-US" sz="3500" b="0" i="0" cap="all">
                <a:effectLst/>
                <a:highlight>
                  <a:srgbClr val="FFFFFF"/>
                </a:highlight>
              </a:rPr>
              <a:t>Transformer Encoder Block</a:t>
            </a:r>
          </a:p>
        </p:txBody>
      </p:sp>
      <p:sp>
        <p:nvSpPr>
          <p:cNvPr id="3" name="TextBox 2">
            <a:extLst>
              <a:ext uri="{FF2B5EF4-FFF2-40B4-BE49-F238E27FC236}">
                <a16:creationId xmlns:a16="http://schemas.microsoft.com/office/drawing/2014/main" id="{75C2A5B9-9474-DB8C-8F6D-EDB7775AB63F}"/>
              </a:ext>
            </a:extLst>
          </p:cNvPr>
          <p:cNvSpPr txBox="1"/>
          <p:nvPr/>
        </p:nvSpPr>
        <p:spPr>
          <a:xfrm>
            <a:off x="1024128" y="2084832"/>
            <a:ext cx="5738981" cy="4133088"/>
          </a:xfrm>
          <a:prstGeom prst="rect">
            <a:avLst/>
          </a:prstGeom>
        </p:spPr>
        <p:txBody>
          <a:bodyPr vert="horz" lIns="45720" tIns="45720" rIns="45720" bIns="45720" rtlCol="0">
            <a:normAutofit fontScale="92500"/>
          </a:bodyPr>
          <a:lstStyle/>
          <a:p>
            <a:pPr marL="342900" indent="-342900" defTabSz="914400">
              <a:lnSpc>
                <a:spcPct val="90000"/>
              </a:lnSpc>
              <a:spcAft>
                <a:spcPts val="600"/>
              </a:spcAft>
              <a:buClr>
                <a:schemeClr val="accent1"/>
              </a:buClr>
              <a:buFont typeface="Arial" panose="020B0604020202020204" pitchFamily="34" charset="0"/>
              <a:buChar char="•"/>
            </a:pPr>
            <a:r>
              <a:rPr lang="en-US" sz="1700" dirty="0">
                <a:highlight>
                  <a:srgbClr val="FFFFFF"/>
                </a:highlight>
              </a:rPr>
              <a:t>A transformer is a deep learning model that adopts the mechanism of self-attention, differentially weighting the significance of each part of the input data</a:t>
            </a:r>
          </a:p>
          <a:p>
            <a:pPr marL="342900" indent="-342900" defTabSz="914400">
              <a:lnSpc>
                <a:spcPct val="90000"/>
              </a:lnSpc>
              <a:spcAft>
                <a:spcPts val="600"/>
              </a:spcAft>
              <a:buClr>
                <a:schemeClr val="accent1"/>
              </a:buClr>
              <a:buFont typeface="Arial" panose="020B0604020202020204" pitchFamily="34" charset="0"/>
              <a:buChar char="•"/>
            </a:pPr>
            <a:endParaRPr lang="en-US" sz="1700" dirty="0">
              <a:highlight>
                <a:srgbClr val="FFFFFF"/>
              </a:highlight>
            </a:endParaRPr>
          </a:p>
          <a:p>
            <a:pPr marL="342900" indent="-342900" defTabSz="914400">
              <a:lnSpc>
                <a:spcPct val="90000"/>
              </a:lnSpc>
              <a:spcAft>
                <a:spcPts val="600"/>
              </a:spcAft>
              <a:buClr>
                <a:schemeClr val="accent1"/>
              </a:buClr>
              <a:buFont typeface="Arial" panose="020B0604020202020204" pitchFamily="34" charset="0"/>
              <a:buChar char="•"/>
            </a:pPr>
            <a:r>
              <a:rPr lang="en-US" sz="1700" dirty="0">
                <a:highlight>
                  <a:srgbClr val="FFFFFF"/>
                </a:highlight>
              </a:rPr>
              <a:t>They hold the potential to understand the relationship between sequential elements that are far from each other</a:t>
            </a:r>
          </a:p>
          <a:p>
            <a:pPr marL="342900" indent="-342900" defTabSz="914400">
              <a:lnSpc>
                <a:spcPct val="90000"/>
              </a:lnSpc>
              <a:spcAft>
                <a:spcPts val="600"/>
              </a:spcAft>
              <a:buClr>
                <a:schemeClr val="accent1"/>
              </a:buClr>
              <a:buFont typeface="Arial" panose="020B0604020202020204" pitchFamily="34" charset="0"/>
              <a:buChar char="•"/>
            </a:pPr>
            <a:endParaRPr lang="en-US" sz="1700" dirty="0">
              <a:highlight>
                <a:srgbClr val="FFFFFF"/>
              </a:highlight>
            </a:endParaRPr>
          </a:p>
          <a:p>
            <a:pPr marL="342900" indent="-342900" defTabSz="914400">
              <a:lnSpc>
                <a:spcPct val="90000"/>
              </a:lnSpc>
              <a:spcAft>
                <a:spcPts val="600"/>
              </a:spcAft>
              <a:buClr>
                <a:schemeClr val="accent1"/>
              </a:buClr>
              <a:buFont typeface="Arial" panose="020B0604020202020204" pitchFamily="34" charset="0"/>
              <a:buChar char="•"/>
            </a:pPr>
            <a:r>
              <a:rPr lang="en-US" sz="1700" dirty="0">
                <a:highlight>
                  <a:srgbClr val="FFFFFF"/>
                </a:highlight>
              </a:rPr>
              <a:t>They are way more accurate</a:t>
            </a:r>
          </a:p>
          <a:p>
            <a:pPr marL="342900" indent="-342900" defTabSz="914400">
              <a:lnSpc>
                <a:spcPct val="90000"/>
              </a:lnSpc>
              <a:spcAft>
                <a:spcPts val="600"/>
              </a:spcAft>
              <a:buClr>
                <a:schemeClr val="accent1"/>
              </a:buClr>
              <a:buFont typeface="Arial" panose="020B0604020202020204" pitchFamily="34" charset="0"/>
              <a:buChar char="•"/>
            </a:pPr>
            <a:endParaRPr lang="en-US" sz="1700" dirty="0">
              <a:highlight>
                <a:srgbClr val="FFFFFF"/>
              </a:highlight>
            </a:endParaRPr>
          </a:p>
          <a:p>
            <a:pPr marL="342900" indent="-342900" defTabSz="914400">
              <a:lnSpc>
                <a:spcPct val="90000"/>
              </a:lnSpc>
              <a:spcAft>
                <a:spcPts val="600"/>
              </a:spcAft>
              <a:buClr>
                <a:schemeClr val="accent1"/>
              </a:buClr>
              <a:buFont typeface="Arial" panose="020B0604020202020204" pitchFamily="34" charset="0"/>
              <a:buChar char="•"/>
            </a:pPr>
            <a:r>
              <a:rPr lang="en-US" sz="1700" dirty="0">
                <a:highlight>
                  <a:srgbClr val="FFFFFF"/>
                </a:highlight>
              </a:rPr>
              <a:t>They pay equal attention to all the elements in the sequence</a:t>
            </a:r>
          </a:p>
          <a:p>
            <a:pPr marL="342900" indent="-342900" defTabSz="914400">
              <a:lnSpc>
                <a:spcPct val="90000"/>
              </a:lnSpc>
              <a:spcAft>
                <a:spcPts val="600"/>
              </a:spcAft>
              <a:buClr>
                <a:schemeClr val="accent1"/>
              </a:buClr>
              <a:buFont typeface="Arial" panose="020B0604020202020204" pitchFamily="34" charset="0"/>
              <a:buChar char="•"/>
            </a:pPr>
            <a:endParaRPr lang="en-US" sz="1700" dirty="0">
              <a:highlight>
                <a:srgbClr val="FFFFFF"/>
              </a:highlight>
            </a:endParaRPr>
          </a:p>
          <a:p>
            <a:pPr marL="342900" indent="-342900" defTabSz="914400">
              <a:lnSpc>
                <a:spcPct val="90000"/>
              </a:lnSpc>
              <a:spcAft>
                <a:spcPts val="600"/>
              </a:spcAft>
              <a:buClr>
                <a:schemeClr val="accent1"/>
              </a:buClr>
              <a:buFont typeface="Arial" panose="020B0604020202020204" pitchFamily="34" charset="0"/>
              <a:buChar char="•"/>
            </a:pPr>
            <a:r>
              <a:rPr lang="en-US" sz="1700" dirty="0">
                <a:highlight>
                  <a:srgbClr val="FFFFFF"/>
                </a:highlight>
              </a:rPr>
              <a:t>For the purpose of classification problem, we will only use the encoder block of the original transformers model (encoder-decoder) designed for sequence problems</a:t>
            </a:r>
          </a:p>
        </p:txBody>
      </p:sp>
      <p:pic>
        <p:nvPicPr>
          <p:cNvPr id="21506" name="Picture 2">
            <a:extLst>
              <a:ext uri="{FF2B5EF4-FFF2-40B4-BE49-F238E27FC236}">
                <a16:creationId xmlns:a16="http://schemas.microsoft.com/office/drawing/2014/main" id="{4B23652C-E369-1D63-5C94-21B87AC0319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90055" y="640080"/>
            <a:ext cx="3067811" cy="55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815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774A886E-E8EF-48CC-8764-20EAE4538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a:xfrm>
            <a:off x="636805" y="640080"/>
            <a:ext cx="3378099" cy="4077145"/>
          </a:xfrm>
        </p:spPr>
        <p:txBody>
          <a:bodyPr vert="horz" lIns="91440" tIns="45720" rIns="91440" bIns="45720" rtlCol="0" anchor="b">
            <a:normAutofit/>
          </a:bodyPr>
          <a:lstStyle/>
          <a:p>
            <a:pPr algn="r"/>
            <a:r>
              <a:rPr lang="en-US" sz="4000" b="0" i="0" kern="1200" cap="all" spc="200" baseline="0">
                <a:solidFill>
                  <a:schemeClr val="tx1">
                    <a:lumMod val="95000"/>
                    <a:lumOff val="5000"/>
                  </a:schemeClr>
                </a:solidFill>
                <a:effectLst/>
                <a:highlight>
                  <a:srgbClr val="FFFFFF"/>
                </a:highlight>
                <a:latin typeface="+mj-lt"/>
                <a:ea typeface="+mj-ea"/>
                <a:cs typeface="+mj-cs"/>
              </a:rPr>
              <a:t>Model Building </a:t>
            </a:r>
          </a:p>
        </p:txBody>
      </p:sp>
      <p:cxnSp>
        <p:nvCxnSpPr>
          <p:cNvPr id="19" name="Straight Connector 18">
            <a:extLst>
              <a:ext uri="{FF2B5EF4-FFF2-40B4-BE49-F238E27FC236}">
                <a16:creationId xmlns:a16="http://schemas.microsoft.com/office/drawing/2014/main" id="{EB1993F9-CFC5-495F-9F26-1995344535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71704" y="4831176"/>
            <a:ext cx="27432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AAF59C5-BA4A-6ACE-940C-14920AB8877E}"/>
              </a:ext>
            </a:extLst>
          </p:cNvPr>
          <p:cNvPicPr>
            <a:picLocks noChangeAspect="1"/>
          </p:cNvPicPr>
          <p:nvPr/>
        </p:nvPicPr>
        <p:blipFill rotWithShape="1">
          <a:blip r:embed="rId2"/>
          <a:srcRect r="8514" b="-2"/>
          <a:stretch/>
        </p:blipFill>
        <p:spPr>
          <a:xfrm>
            <a:off x="4654984" y="640080"/>
            <a:ext cx="6896936" cy="5578816"/>
          </a:xfrm>
          <a:prstGeom prst="rect">
            <a:avLst/>
          </a:prstGeom>
        </p:spPr>
      </p:pic>
    </p:spTree>
    <p:extLst>
      <p:ext uri="{BB962C8B-B14F-4D97-AF65-F5344CB8AC3E}">
        <p14:creationId xmlns:p14="http://schemas.microsoft.com/office/powerpoint/2010/main" val="760134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6" name="Straight Connector 15">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a:xfrm>
            <a:off x="457200" y="4960137"/>
            <a:ext cx="7772400" cy="1463040"/>
          </a:xfrm>
        </p:spPr>
        <p:txBody>
          <a:bodyPr vert="horz" lIns="91440" tIns="45720" rIns="91440" bIns="45720" rtlCol="0" anchor="ctr">
            <a:normAutofit/>
          </a:bodyPr>
          <a:lstStyle/>
          <a:p>
            <a:pPr algn="r"/>
            <a:r>
              <a:rPr lang="en-US" b="0" i="0" kern="1200" cap="all" spc="200" baseline="0" dirty="0">
                <a:solidFill>
                  <a:schemeClr val="tx1">
                    <a:lumMod val="95000"/>
                    <a:lumOff val="5000"/>
                  </a:schemeClr>
                </a:solidFill>
                <a:effectLst/>
                <a:highlight>
                  <a:srgbClr val="FFFFFF"/>
                </a:highlight>
                <a:latin typeface="+mj-lt"/>
                <a:ea typeface="+mj-ea"/>
                <a:cs typeface="+mj-cs"/>
              </a:rPr>
              <a:t>Model Training</a:t>
            </a:r>
          </a:p>
        </p:txBody>
      </p:sp>
      <p:sp>
        <p:nvSpPr>
          <p:cNvPr id="7" name="TextBox 6">
            <a:extLst>
              <a:ext uri="{FF2B5EF4-FFF2-40B4-BE49-F238E27FC236}">
                <a16:creationId xmlns:a16="http://schemas.microsoft.com/office/drawing/2014/main" id="{2ADC27AC-0DDC-0D57-D8FC-3ADF6279F35F}"/>
              </a:ext>
            </a:extLst>
          </p:cNvPr>
          <p:cNvSpPr txBox="1"/>
          <p:nvPr/>
        </p:nvSpPr>
        <p:spPr>
          <a:xfrm>
            <a:off x="8610600" y="4960137"/>
            <a:ext cx="3200400" cy="1463040"/>
          </a:xfrm>
          <a:prstGeom prst="rect">
            <a:avLst/>
          </a:prstGeom>
        </p:spPr>
        <p:txBody>
          <a:bodyPr vert="horz" lIns="91440" tIns="45720" rIns="91440" bIns="45720" rtlCol="0" anchor="ctr">
            <a:normAutofit/>
          </a:bodyPr>
          <a:lstStyle/>
          <a:p>
            <a:pPr defTabSz="914400">
              <a:spcAft>
                <a:spcPts val="200"/>
              </a:spcAft>
              <a:buClr>
                <a:schemeClr val="accent1"/>
              </a:buClr>
              <a:buSzPct val="100000"/>
            </a:pPr>
            <a:r>
              <a:rPr lang="en-US">
                <a:solidFill>
                  <a:schemeClr val="tx1">
                    <a:lumMod val="95000"/>
                    <a:lumOff val="5000"/>
                  </a:schemeClr>
                </a:solidFill>
              </a:rPr>
              <a:t>Early stopping was added to prevent overfitting.</a:t>
            </a:r>
          </a:p>
        </p:txBody>
      </p:sp>
      <p:pic>
        <p:nvPicPr>
          <p:cNvPr id="6" name="Picture 5">
            <a:extLst>
              <a:ext uri="{FF2B5EF4-FFF2-40B4-BE49-F238E27FC236}">
                <a16:creationId xmlns:a16="http://schemas.microsoft.com/office/drawing/2014/main" id="{350701D7-5908-8C62-A529-A1B9427078F6}"/>
              </a:ext>
            </a:extLst>
          </p:cNvPr>
          <p:cNvPicPr>
            <a:picLocks noChangeAspect="1"/>
          </p:cNvPicPr>
          <p:nvPr/>
        </p:nvPicPr>
        <p:blipFill rotWithShape="1">
          <a:blip r:embed="rId2"/>
          <a:srcRect b="9639"/>
          <a:stretch/>
        </p:blipFill>
        <p:spPr>
          <a:xfrm>
            <a:off x="20" y="10"/>
            <a:ext cx="12191980" cy="4571990"/>
          </a:xfrm>
          <a:prstGeom prst="rect">
            <a:avLst/>
          </a:prstGeom>
        </p:spPr>
      </p:pic>
    </p:spTree>
    <p:extLst>
      <p:ext uri="{BB962C8B-B14F-4D97-AF65-F5344CB8AC3E}">
        <p14:creationId xmlns:p14="http://schemas.microsoft.com/office/powerpoint/2010/main" val="204302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5EAD-DADD-759C-14E9-29E01FBCB175}"/>
              </a:ext>
            </a:extLst>
          </p:cNvPr>
          <p:cNvSpPr>
            <a:spLocks noGrp="1"/>
          </p:cNvSpPr>
          <p:nvPr>
            <p:ph type="title"/>
          </p:nvPr>
        </p:nvSpPr>
        <p:spPr/>
        <p:txBody>
          <a:bodyPr/>
          <a:lstStyle/>
          <a:p>
            <a:pPr algn="l"/>
            <a:r>
              <a:rPr lang="en-US" b="0" i="0" dirty="0">
                <a:solidFill>
                  <a:srgbClr val="212121"/>
                </a:solidFill>
                <a:effectLst/>
                <a:highlight>
                  <a:srgbClr val="FFFFFF"/>
                </a:highlight>
                <a:latin typeface="Roboto" panose="02000000000000000000" pitchFamily="2" charset="0"/>
              </a:rPr>
              <a:t>Model Evaluation</a:t>
            </a:r>
          </a:p>
        </p:txBody>
      </p:sp>
      <p:sp>
        <p:nvSpPr>
          <p:cNvPr id="4" name="TextBox 3">
            <a:extLst>
              <a:ext uri="{FF2B5EF4-FFF2-40B4-BE49-F238E27FC236}">
                <a16:creationId xmlns:a16="http://schemas.microsoft.com/office/drawing/2014/main" id="{E622CEE0-7E6C-14D3-EF3A-E713E74BC914}"/>
              </a:ext>
            </a:extLst>
          </p:cNvPr>
          <p:cNvSpPr txBox="1"/>
          <p:nvPr/>
        </p:nvSpPr>
        <p:spPr>
          <a:xfrm>
            <a:off x="1024127" y="2001654"/>
            <a:ext cx="9720071" cy="584775"/>
          </a:xfrm>
          <a:prstGeom prst="rect">
            <a:avLst/>
          </a:prstGeom>
          <a:noFill/>
        </p:spPr>
        <p:txBody>
          <a:bodyPr wrap="square">
            <a:spAutoFit/>
          </a:bodyPr>
          <a:lstStyle/>
          <a:p>
            <a:r>
              <a:rPr lang="en-US" b="1" dirty="0"/>
              <a:t>The model is evaluated using the test data with an accuracy of </a:t>
            </a:r>
            <a:r>
              <a:rPr lang="en-US" sz="3200" b="1" dirty="0">
                <a:solidFill>
                  <a:schemeClr val="accent1"/>
                </a:solidFill>
              </a:rPr>
              <a:t>93.26 % </a:t>
            </a:r>
            <a:endParaRPr lang="en-US" b="1" dirty="0">
              <a:solidFill>
                <a:schemeClr val="accent1"/>
              </a:solidFill>
            </a:endParaRPr>
          </a:p>
        </p:txBody>
      </p:sp>
      <p:pic>
        <p:nvPicPr>
          <p:cNvPr id="10" name="Picture 9">
            <a:extLst>
              <a:ext uri="{FF2B5EF4-FFF2-40B4-BE49-F238E27FC236}">
                <a16:creationId xmlns:a16="http://schemas.microsoft.com/office/drawing/2014/main" id="{D7399C09-D82A-E103-4514-BFB69094F0B3}"/>
              </a:ext>
            </a:extLst>
          </p:cNvPr>
          <p:cNvPicPr>
            <a:picLocks noChangeAspect="1"/>
          </p:cNvPicPr>
          <p:nvPr/>
        </p:nvPicPr>
        <p:blipFill>
          <a:blip r:embed="rId2"/>
          <a:stretch>
            <a:fillRect/>
          </a:stretch>
        </p:blipFill>
        <p:spPr>
          <a:xfrm>
            <a:off x="2826210" y="2832177"/>
            <a:ext cx="6115904" cy="1038370"/>
          </a:xfrm>
          <a:prstGeom prst="rect">
            <a:avLst/>
          </a:prstGeom>
        </p:spPr>
      </p:pic>
    </p:spTree>
    <p:extLst>
      <p:ext uri="{BB962C8B-B14F-4D97-AF65-F5344CB8AC3E}">
        <p14:creationId xmlns:p14="http://schemas.microsoft.com/office/powerpoint/2010/main" val="11105297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 design</Template>
  <TotalTime>6148</TotalTime>
  <Words>510</Words>
  <Application>Microsoft Office PowerPoint</Application>
  <PresentationFormat>Widescreen</PresentationFormat>
  <Paragraphs>99</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Courier New</vt:lpstr>
      <vt:lpstr>Roboto</vt:lpstr>
      <vt:lpstr>Tw Cen MT</vt:lpstr>
      <vt:lpstr>Wingdings 3</vt:lpstr>
      <vt:lpstr>Integral</vt:lpstr>
      <vt:lpstr>Sarcasm Detection in News Headlines</vt:lpstr>
      <vt:lpstr>Dataset</vt:lpstr>
      <vt:lpstr>Dataset</vt:lpstr>
      <vt:lpstr>Dataset Loading</vt:lpstr>
      <vt:lpstr>Dataset Loading</vt:lpstr>
      <vt:lpstr>Dataset Concatenation</vt:lpstr>
      <vt:lpstr>Drop article_link cloumn</vt:lpstr>
      <vt:lpstr>EDA and Text Preprocessing</vt:lpstr>
      <vt:lpstr>Checking for null values</vt:lpstr>
      <vt:lpstr>Classes Balance/Imbalance</vt:lpstr>
      <vt:lpstr>Text Cleaning &amp; Lemmatization</vt:lpstr>
      <vt:lpstr>Text Cleaning &amp; Lemmatization</vt:lpstr>
      <vt:lpstr>Text Cleaning &amp; Lemmatization</vt:lpstr>
      <vt:lpstr>Features Extraction</vt:lpstr>
      <vt:lpstr>Features Extraction</vt:lpstr>
      <vt:lpstr>Features Extraction</vt:lpstr>
      <vt:lpstr>Features Extraction</vt:lpstr>
      <vt:lpstr>Features Extraction</vt:lpstr>
      <vt:lpstr>Word Cloud</vt:lpstr>
      <vt:lpstr>Model Building </vt:lpstr>
      <vt:lpstr>Tokenization</vt:lpstr>
      <vt:lpstr>Padding</vt:lpstr>
      <vt:lpstr>Transformer Encoder Block</vt:lpstr>
      <vt:lpstr>Model Building </vt:lpstr>
      <vt:lpstr>Model Training</vt:lpstr>
      <vt:lpstr>Model 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Mostafa Nasrat Metwally Abdelmagid Dagher 19P4619</dc:creator>
  <cp:lastModifiedBy>Mostafa Nasrat Metwally Abdelmagid Dagher 19P4619</cp:lastModifiedBy>
  <cp:revision>4</cp:revision>
  <dcterms:created xsi:type="dcterms:W3CDTF">2024-06-17T04:13:41Z</dcterms:created>
  <dcterms:modified xsi:type="dcterms:W3CDTF">2024-06-27T18:24:06Z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